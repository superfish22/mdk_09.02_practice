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3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64"/>
      <p:bold r:id="rId65"/>
      <p:italic r:id="rId66"/>
      <p:boldItalic r:id="rId67"/>
    </p:embeddedFont>
    <p:embeddedFont>
      <p:font typeface="Nunito" pitchFamily="2" charset="-52"/>
      <p:regular r:id="rId68"/>
      <p:bold r:id="rId69"/>
      <p:italic r:id="rId70"/>
      <p:boldItalic r:id="rId71"/>
    </p:embeddedFont>
    <p:embeddedFont>
      <p:font typeface="Trebuchet MS" panose="020B0603020202020204" pitchFamily="34" charset="0"/>
      <p:regular r:id="rId72"/>
      <p:bold r:id="rId73"/>
      <p:italic r:id="rId74"/>
      <p:boldItalic r:id="rId7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font" Target="fonts/font5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3.fntdata"/><Relationship Id="rId74" Type="http://schemas.openxmlformats.org/officeDocument/2006/relationships/font" Target="fonts/font11.fntdata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1.fntdata"/><Relationship Id="rId69" Type="http://schemas.openxmlformats.org/officeDocument/2006/relationships/font" Target="fonts/font6.fntdata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7.fntdata"/><Relationship Id="rId75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2.fntdata"/><Relationship Id="rId73" Type="http://schemas.openxmlformats.org/officeDocument/2006/relationships/font" Target="fonts/font10.fntdata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font" Target="fonts/font8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752ae0a29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752ae0a29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71e269b25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71e269b25b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74dafb011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74dafb011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b5e670fa80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b5e670fa80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727d088b3c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727d088b3c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727d088b3c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727d088b3c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73cce2a7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73cce2a7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7f73cce2a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7f73cce2a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27d088b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27d088b3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1e269b25b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1e269b25b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74dafb011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74dafb0110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71e269b25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71e269b25b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71e269b25b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71e269b25b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71e269b25b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71e269b25b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74dafb0110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74dafb0110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74dafb0110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74dafb0110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74dafb0110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74dafb0110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74dafb011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74dafb011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74dafb0110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74dafb0110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74dafb0110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74dafb0110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b5e670fa8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b5e670fa8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b5e670fa80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b5e670fa80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b5e670fa80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b5e670fa80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b5e670fa8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b5e670fa8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b5e670fa80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b5e670fa80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b5e670fa80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b5e670fa80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71e269b25b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71e269b25b_0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74dafb0110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74dafb0110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74dafb0110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74dafb0110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74dafb0110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74dafb0110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74dafb0110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74dafb0110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74dafb0110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74dafb0110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74dafb0110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74dafb0110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71e269b25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71e269b25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71e269b25b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71e269b25b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7fc98f9fe3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7fc98f9fe3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74dafb0110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74dafb0110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7fc98f9fe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7fc98f9fe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7fd9e930c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7fd9e930c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7f73cce2a7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7f73cce2a7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71e269b25b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71e269b25b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7fc98f9fe3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7fc98f9fe3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76eeeab4a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76eeeab4a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76eeeab4a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76eeeab4a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7fd9e930ce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7fd9e930ce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7f73cce2a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7f73cce2a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7fd9e930c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7fd9e930c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7fc98f9fe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7fc98f9fe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7fd9e930c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7fd9e930c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7fd9e930c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7fd9e930c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7fd9e930c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7fd9e930c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7fd9e930ce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7fd9e930ce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b5e670fa8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b5e670fa8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78484fa49b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78484fa49b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78484fa49b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78484fa49b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78484fa49b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78484fa49b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78484fa49b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78484fa49b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b5e670fa8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b5e670fa8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78484fa49b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78484fa49b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b5e670fa8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b5e670fa8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in-scale.ru/blog/kontekstnaya-reklama-sajta-eto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in-scale.ru/blog/landing-page-chto-eto" TargetMode="External"/><Relationship Id="rId4" Type="http://schemas.openxmlformats.org/officeDocument/2006/relationships/hyperlink" Target="https://in-scale.ru/blog/targetirovannaya-reklama-vidy-i-vozmozhnosti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in-scale.ru/blog/crm-sistemy-chto-eto-prostymi-slovami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jpg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yandex.ru/support/metrica/reports/report-general.html#set-report__detail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jp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jp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237400" y="407200"/>
            <a:ext cx="8454600" cy="13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Контекстная реклама</a:t>
            </a:r>
            <a:endParaRPr/>
          </a:p>
        </p:txBody>
      </p:sp>
      <p:pic>
        <p:nvPicPr>
          <p:cNvPr id="129" name="Google Shape;12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525" y="1395725"/>
            <a:ext cx="5822649" cy="291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>
            <a:spLocks noGrp="1"/>
          </p:cNvSpPr>
          <p:nvPr>
            <p:ph type="title"/>
          </p:nvPr>
        </p:nvSpPr>
        <p:spPr>
          <a:xfrm>
            <a:off x="1142400" y="4700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термины</a:t>
            </a:r>
            <a:endParaRPr/>
          </a:p>
        </p:txBody>
      </p:sp>
      <p:sp>
        <p:nvSpPr>
          <p:cNvPr id="155" name="Google Shape;155;p17"/>
          <p:cNvSpPr txBox="1">
            <a:spLocks noGrp="1"/>
          </p:cNvSpPr>
          <p:nvPr>
            <p:ph type="body" idx="1"/>
          </p:nvPr>
        </p:nvSpPr>
        <p:spPr>
          <a:xfrm>
            <a:off x="819150" y="170550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Ключевик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Поисковый запрос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Релевантность: объявление = ключевик = посадочная страница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Трафик: посетители сайта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Лиды: заявки + звонки + иные обращения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CTR: клики/показы и умножаем на 100%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Конверсия: Кол-во целевых действий / кол-во посетителей * 100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>
            <a:spLocks noGrp="1"/>
          </p:cNvSpPr>
          <p:nvPr>
            <p:ph type="title"/>
          </p:nvPr>
        </p:nvSpPr>
        <p:spPr>
          <a:xfrm>
            <a:off x="517075" y="173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Что такое контекстная реклама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61" name="Google Shape;16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375" y="853050"/>
            <a:ext cx="7825999" cy="391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>
            <a:spLocks noGrp="1"/>
          </p:cNvSpPr>
          <p:nvPr>
            <p:ph type="body" idx="1"/>
          </p:nvPr>
        </p:nvSpPr>
        <p:spPr>
          <a:xfrm>
            <a:off x="819150" y="121465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Контекстная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200" b="1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реклама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— это </a:t>
            </a:r>
            <a:r>
              <a:rPr lang="ru" sz="1200" b="1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реклама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которая показывается человеку в соответствии с контекстом, то есть содержимым страницы в интернете, на которой он находиться. Говоря </a:t>
            </a:r>
            <a:r>
              <a:rPr lang="ru" sz="1200" b="1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простыми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200" b="1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словами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" sz="1200" b="1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контекстная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200" b="1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реклама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— это автоматически подобранная под конкретного человека </a:t>
            </a:r>
            <a:r>
              <a:rPr lang="ru" sz="1200" b="1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реклама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в зависимости от того, какую страницу он открыл и изучает.</a:t>
            </a:r>
            <a:b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b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Основная идея контекстной рекламы в том, чтобы показать пользователю именно ту рекламу, которая интересна ему в настоящее время.</a:t>
            </a:r>
            <a:endParaRPr/>
          </a:p>
        </p:txBody>
      </p:sp>
      <p:pic>
        <p:nvPicPr>
          <p:cNvPr id="167" name="Google Shape;16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9649" y="2698175"/>
            <a:ext cx="2977600" cy="17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>
            <a:spLocks noGrp="1"/>
          </p:cNvSpPr>
          <p:nvPr>
            <p:ph type="title"/>
          </p:nvPr>
        </p:nvSpPr>
        <p:spPr>
          <a:xfrm>
            <a:off x="752100" y="3292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Какие задачи можно решить с помощью контекстной рекламы?</a:t>
            </a:r>
            <a:endParaRPr/>
          </a:p>
        </p:txBody>
      </p:sp>
      <p:sp>
        <p:nvSpPr>
          <p:cNvPr id="173" name="Google Shape;173;p20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15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• Получить трафик на сайт </a:t>
            </a:r>
            <a:br>
              <a:rPr lang="ru"/>
            </a:br>
            <a:r>
              <a:rPr lang="ru"/>
              <a:t>• Лидогенерация </a:t>
            </a:r>
            <a:br>
              <a:rPr lang="ru"/>
            </a:br>
            <a:r>
              <a:rPr lang="ru"/>
              <a:t>• Увеличить продажи в интернет-магазине </a:t>
            </a:r>
            <a:br>
              <a:rPr lang="ru"/>
            </a:br>
            <a:r>
              <a:rPr lang="ru"/>
              <a:t>• Протестировать нишу </a:t>
            </a:r>
            <a:br>
              <a:rPr lang="ru"/>
            </a:br>
            <a:r>
              <a:rPr lang="ru"/>
              <a:t>• Увеличить узнаваемость бренда </a:t>
            </a:r>
            <a:endParaRPr/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3471" y="1488724"/>
            <a:ext cx="2539976" cy="2964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>
            <a:spLocks noGrp="1"/>
          </p:cNvSpPr>
          <p:nvPr>
            <p:ph type="title"/>
          </p:nvPr>
        </p:nvSpPr>
        <p:spPr>
          <a:xfrm>
            <a:off x="928500" y="8503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работает контекстная реклама?</a:t>
            </a:r>
            <a:endParaRPr/>
          </a:p>
        </p:txBody>
      </p:sp>
      <p:sp>
        <p:nvSpPr>
          <p:cNvPr id="180" name="Google Shape;180;p21"/>
          <p:cNvSpPr txBox="1">
            <a:spLocks noGrp="1"/>
          </p:cNvSpPr>
          <p:nvPr>
            <p:ph type="body" idx="1"/>
          </p:nvPr>
        </p:nvSpPr>
        <p:spPr>
          <a:xfrm>
            <a:off x="899975" y="1804950"/>
            <a:ext cx="7471200" cy="13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Рекламные объявления показываются в контексте той страницы, которую просматривает пользователь. Система сама решает, какие объявления и где показать.</a:t>
            </a:r>
            <a:b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Как же работает эта система? Откуда она берет объявления и каким образом подбирает их для показа на конкретной странице?</a:t>
            </a:r>
            <a:b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Простыми словами можно описать работы систему контекстной рекламы следующим образом.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/>
          <p:nvPr/>
        </p:nvSpPr>
        <p:spPr>
          <a:xfrm>
            <a:off x="5405500" y="665525"/>
            <a:ext cx="1421400" cy="6702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5405500" y="1810425"/>
            <a:ext cx="1421400" cy="6702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5405500" y="2955325"/>
            <a:ext cx="1421400" cy="6702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8" name="Google Shape;188;p22"/>
          <p:cNvCxnSpPr/>
          <p:nvPr/>
        </p:nvCxnSpPr>
        <p:spPr>
          <a:xfrm>
            <a:off x="6116200" y="1335725"/>
            <a:ext cx="6300" cy="36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p22"/>
          <p:cNvCxnSpPr/>
          <p:nvPr/>
        </p:nvCxnSpPr>
        <p:spPr>
          <a:xfrm>
            <a:off x="6113050" y="2480625"/>
            <a:ext cx="6300" cy="36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0" name="Google Shape;190;p22"/>
          <p:cNvSpPr txBox="1"/>
          <p:nvPr/>
        </p:nvSpPr>
        <p:spPr>
          <a:xfrm>
            <a:off x="5522950" y="800525"/>
            <a:ext cx="118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Calibri"/>
                <a:ea typeface="Calibri"/>
                <a:cs typeface="Calibri"/>
                <a:sym typeface="Calibri"/>
              </a:rPr>
              <a:t>Потребитель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5464150" y="1960875"/>
            <a:ext cx="130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Calibri"/>
                <a:ea typeface="Calibri"/>
                <a:cs typeface="Calibri"/>
                <a:sym typeface="Calibri"/>
              </a:rPr>
              <a:t>Запрос/Интерес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5467300" y="3090325"/>
            <a:ext cx="130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Calibri"/>
                <a:ea typeface="Calibri"/>
                <a:cs typeface="Calibri"/>
                <a:sym typeface="Calibri"/>
              </a:rPr>
              <a:t>Ключевые слова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2459725" y="665525"/>
            <a:ext cx="1421400" cy="6702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2459725" y="1810425"/>
            <a:ext cx="1421400" cy="6702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2459725" y="2955325"/>
            <a:ext cx="1421400" cy="6702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6" name="Google Shape;196;p22"/>
          <p:cNvCxnSpPr/>
          <p:nvPr/>
        </p:nvCxnSpPr>
        <p:spPr>
          <a:xfrm>
            <a:off x="3170425" y="1335725"/>
            <a:ext cx="6300" cy="36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7" name="Google Shape;197;p22"/>
          <p:cNvCxnSpPr/>
          <p:nvPr/>
        </p:nvCxnSpPr>
        <p:spPr>
          <a:xfrm>
            <a:off x="3167275" y="2480625"/>
            <a:ext cx="6300" cy="36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8" name="Google Shape;198;p22"/>
          <p:cNvSpPr txBox="1"/>
          <p:nvPr/>
        </p:nvSpPr>
        <p:spPr>
          <a:xfrm>
            <a:off x="2577175" y="800525"/>
            <a:ext cx="209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Calibri"/>
                <a:ea typeface="Calibri"/>
                <a:cs typeface="Calibri"/>
                <a:sym typeface="Calibri"/>
              </a:rPr>
              <a:t>Рекламодатель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2518375" y="1960875"/>
            <a:ext cx="130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Calibri"/>
                <a:ea typeface="Calibri"/>
                <a:cs typeface="Calibri"/>
                <a:sym typeface="Calibri"/>
              </a:rPr>
              <a:t>Товар/Услуга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2521525" y="3090325"/>
            <a:ext cx="130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Calibri"/>
                <a:ea typeface="Calibri"/>
                <a:cs typeface="Calibri"/>
                <a:sym typeface="Calibri"/>
              </a:rPr>
              <a:t>Ключевые слова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4120113" y="3156325"/>
            <a:ext cx="1046400" cy="2682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00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>
            <a:spLocks noGrp="1"/>
          </p:cNvSpPr>
          <p:nvPr>
            <p:ph type="title"/>
          </p:nvPr>
        </p:nvSpPr>
        <p:spPr>
          <a:xfrm>
            <a:off x="286750" y="536600"/>
            <a:ext cx="86835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рекламных кампаний в Яндекс Директ</a:t>
            </a:r>
            <a:endParaRPr/>
          </a:p>
        </p:txBody>
      </p:sp>
      <p:sp>
        <p:nvSpPr>
          <p:cNvPr id="207" name="Google Shape;207;p23"/>
          <p:cNvSpPr txBox="1">
            <a:spLocks noGrp="1"/>
          </p:cNvSpPr>
          <p:nvPr>
            <p:ph type="body" idx="1"/>
          </p:nvPr>
        </p:nvSpPr>
        <p:spPr>
          <a:xfrm>
            <a:off x="819150" y="163895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реклама на поиске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реклама на сайтах партнерах Яндекса (РСЯ)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реклама мобильных приложений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видеореклама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торговые кампании в Яндекс.Маркете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смарт-баннеры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баннер на поиске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динамические поисковые объявления</a:t>
            </a:r>
            <a:endParaRPr/>
          </a:p>
        </p:txBody>
      </p:sp>
      <p:pic>
        <p:nvPicPr>
          <p:cNvPr id="208" name="Google Shape;20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70825"/>
            <a:ext cx="4166699" cy="298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>
            <a:spLocks noGrp="1"/>
          </p:cNvSpPr>
          <p:nvPr>
            <p:ph type="title"/>
          </p:nvPr>
        </p:nvSpPr>
        <p:spPr>
          <a:xfrm>
            <a:off x="434700" y="306550"/>
            <a:ext cx="82746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900"/>
              <a:t>Основные типы таргетингов в Яндекс Директ</a:t>
            </a:r>
            <a:endParaRPr sz="1200"/>
          </a:p>
        </p:txBody>
      </p:sp>
      <p:sp>
        <p:nvSpPr>
          <p:cNvPr id="214" name="Google Shape;214;p24"/>
          <p:cNvSpPr txBox="1">
            <a:spLocks noGrp="1"/>
          </p:cNvSpPr>
          <p:nvPr>
            <p:ph type="body" idx="1"/>
          </p:nvPr>
        </p:nvSpPr>
        <p:spPr>
          <a:xfrm>
            <a:off x="681300" y="1372725"/>
            <a:ext cx="3040800" cy="107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>
                <a:highlight>
                  <a:srgbClr val="FFF2CC"/>
                </a:highlight>
              </a:rPr>
              <a:t>Реклама на поиске:</a:t>
            </a:r>
            <a:br>
              <a:rPr lang="ru"/>
            </a:br>
            <a:r>
              <a:rPr lang="ru"/>
              <a:t>- по ключевым словам</a:t>
            </a:r>
            <a:endParaRPr/>
          </a:p>
        </p:txBody>
      </p:sp>
      <p:sp>
        <p:nvSpPr>
          <p:cNvPr id="215" name="Google Shape;215;p24"/>
          <p:cNvSpPr txBox="1">
            <a:spLocks noGrp="1"/>
          </p:cNvSpPr>
          <p:nvPr>
            <p:ph type="body" idx="1"/>
          </p:nvPr>
        </p:nvSpPr>
        <p:spPr>
          <a:xfrm>
            <a:off x="710100" y="2380800"/>
            <a:ext cx="3140400" cy="13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>
                <a:highlight>
                  <a:srgbClr val="FFF2CC"/>
                </a:highlight>
              </a:rPr>
              <a:t>Реклама в РСЯ:</a:t>
            </a:r>
            <a:br>
              <a:rPr lang="ru"/>
            </a:br>
            <a:r>
              <a:rPr lang="ru"/>
              <a:t>- по ключевым словам</a:t>
            </a:r>
            <a:br>
              <a:rPr lang="ru"/>
            </a:br>
            <a:r>
              <a:rPr lang="ru"/>
              <a:t>- по интересам пользователей</a:t>
            </a:r>
            <a:br>
              <a:rPr lang="ru"/>
            </a:br>
            <a:r>
              <a:rPr lang="ru"/>
              <a:t>- автотаргетинг</a:t>
            </a:r>
            <a:br>
              <a:rPr lang="ru"/>
            </a:br>
            <a:r>
              <a:rPr lang="ru"/>
              <a:t>- по аудиториям выгруженным из CRM</a:t>
            </a:r>
            <a:endParaRPr/>
          </a:p>
        </p:txBody>
      </p:sp>
      <p:sp>
        <p:nvSpPr>
          <p:cNvPr id="216" name="Google Shape;216;p24"/>
          <p:cNvSpPr txBox="1">
            <a:spLocks noGrp="1"/>
          </p:cNvSpPr>
          <p:nvPr>
            <p:ph type="body" idx="1"/>
          </p:nvPr>
        </p:nvSpPr>
        <p:spPr>
          <a:xfrm>
            <a:off x="4641675" y="1261150"/>
            <a:ext cx="3140400" cy="13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>
                <a:highlight>
                  <a:srgbClr val="FFF2CC"/>
                </a:highlight>
              </a:rPr>
              <a:t>Медийная реклама:</a:t>
            </a:r>
            <a:br>
              <a:rPr lang="ru"/>
            </a:br>
            <a:r>
              <a:rPr lang="ru"/>
              <a:t>- по ключевым словам</a:t>
            </a:r>
            <a:br>
              <a:rPr lang="ru"/>
            </a:br>
            <a:r>
              <a:rPr lang="ru"/>
              <a:t>- по профилю пользователей</a:t>
            </a:r>
            <a:br>
              <a:rPr lang="ru"/>
            </a:br>
            <a:r>
              <a:rPr lang="ru"/>
              <a:t>- по аудиториям выгруженным из CRM</a:t>
            </a:r>
            <a:endParaRPr/>
          </a:p>
        </p:txBody>
      </p:sp>
      <p:sp>
        <p:nvSpPr>
          <p:cNvPr id="217" name="Google Shape;217;p24"/>
          <p:cNvSpPr txBox="1">
            <a:spLocks noGrp="1"/>
          </p:cNvSpPr>
          <p:nvPr>
            <p:ph type="body" idx="1"/>
          </p:nvPr>
        </p:nvSpPr>
        <p:spPr>
          <a:xfrm>
            <a:off x="4765575" y="2506900"/>
            <a:ext cx="2892600" cy="7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>
                <a:highlight>
                  <a:srgbClr val="FFF2CC"/>
                </a:highlight>
              </a:rPr>
              <a:t>Баннер на поиске:</a:t>
            </a:r>
            <a:br>
              <a:rPr lang="ru"/>
            </a:br>
            <a:r>
              <a:rPr lang="ru"/>
              <a:t>- по ключевым словам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>
            <a:spLocks noGrp="1"/>
          </p:cNvSpPr>
          <p:nvPr>
            <p:ph type="title"/>
          </p:nvPr>
        </p:nvSpPr>
        <p:spPr>
          <a:xfrm>
            <a:off x="522625" y="455800"/>
            <a:ext cx="8678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Модели оплаты рекламы в Яндекс Директ</a:t>
            </a:r>
            <a:endParaRPr/>
          </a:p>
        </p:txBody>
      </p:sp>
      <p:sp>
        <p:nvSpPr>
          <p:cNvPr id="223" name="Google Shape;223;p25"/>
          <p:cNvSpPr txBox="1">
            <a:spLocks noGrp="1"/>
          </p:cNvSpPr>
          <p:nvPr>
            <p:ph type="body" idx="1"/>
          </p:nvPr>
        </p:nvSpPr>
        <p:spPr>
          <a:xfrm>
            <a:off x="899975" y="1671450"/>
            <a:ext cx="2546400" cy="7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По модели CPM (за количество показов)</a:t>
            </a:r>
            <a:endParaRPr/>
          </a:p>
        </p:txBody>
      </p:sp>
      <p:sp>
        <p:nvSpPr>
          <p:cNvPr id="224" name="Google Shape;224;p25"/>
          <p:cNvSpPr txBox="1">
            <a:spLocks noGrp="1"/>
          </p:cNvSpPr>
          <p:nvPr>
            <p:ph type="body" idx="1"/>
          </p:nvPr>
        </p:nvSpPr>
        <p:spPr>
          <a:xfrm>
            <a:off x="4774525" y="1725600"/>
            <a:ext cx="25464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По модели CPC (за клики)</a:t>
            </a:r>
            <a:endParaRPr/>
          </a:p>
        </p:txBody>
      </p:sp>
      <p:pic>
        <p:nvPicPr>
          <p:cNvPr id="225" name="Google Shape;22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5050" y="2127425"/>
            <a:ext cx="755550" cy="75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6251" y="2260526"/>
            <a:ext cx="622449" cy="62244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5"/>
          <p:cNvSpPr txBox="1">
            <a:spLocks noGrp="1"/>
          </p:cNvSpPr>
          <p:nvPr>
            <p:ph type="body" idx="1"/>
          </p:nvPr>
        </p:nvSpPr>
        <p:spPr>
          <a:xfrm>
            <a:off x="3044400" y="3375275"/>
            <a:ext cx="25464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По модели CPA (за действие)</a:t>
            </a:r>
            <a:endParaRPr/>
          </a:p>
        </p:txBody>
      </p:sp>
      <p:pic>
        <p:nvPicPr>
          <p:cNvPr id="228" name="Google Shape;22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0725" y="3780780"/>
            <a:ext cx="755550" cy="6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>
            <a:spLocks noGrp="1"/>
          </p:cNvSpPr>
          <p:nvPr>
            <p:ph type="title"/>
          </p:nvPr>
        </p:nvSpPr>
        <p:spPr>
          <a:xfrm>
            <a:off x="330725" y="2393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Рекламные форматы в Яндекс Директ</a:t>
            </a:r>
            <a:endParaRPr/>
          </a:p>
        </p:txBody>
      </p:sp>
      <p:pic>
        <p:nvPicPr>
          <p:cNvPr id="234" name="Google Shape;2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725" y="1716073"/>
            <a:ext cx="2304249" cy="132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7625" y="1906200"/>
            <a:ext cx="2180001" cy="232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7600" y="3411650"/>
            <a:ext cx="3116201" cy="12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6"/>
          <p:cNvSpPr txBox="1"/>
          <p:nvPr/>
        </p:nvSpPr>
        <p:spPr>
          <a:xfrm>
            <a:off x="330725" y="1254725"/>
            <a:ext cx="27381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Calibri"/>
                <a:ea typeface="Calibri"/>
                <a:cs typeface="Calibri"/>
                <a:sym typeface="Calibri"/>
              </a:rPr>
              <a:t>На поиске и баннер на поиске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6"/>
          <p:cNvSpPr txBox="1"/>
          <p:nvPr/>
        </p:nvSpPr>
        <p:spPr>
          <a:xfrm>
            <a:off x="2875975" y="3092150"/>
            <a:ext cx="27381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Calibri"/>
                <a:ea typeface="Calibri"/>
                <a:cs typeface="Calibri"/>
                <a:sym typeface="Calibri"/>
              </a:rPr>
              <a:t>Баннер на главной и РСЯ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6"/>
          <p:cNvSpPr txBox="1"/>
          <p:nvPr/>
        </p:nvSpPr>
        <p:spPr>
          <a:xfrm>
            <a:off x="6607650" y="1535450"/>
            <a:ext cx="27381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Calibri"/>
                <a:ea typeface="Calibri"/>
                <a:cs typeface="Calibri"/>
                <a:sym typeface="Calibri"/>
              </a:rPr>
              <a:t>Смарт-баннеры, РСЯ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>
            <a:spLocks noGrp="1"/>
          </p:cNvSpPr>
          <p:nvPr>
            <p:ph type="title"/>
          </p:nvPr>
        </p:nvSpPr>
        <p:spPr>
          <a:xfrm>
            <a:off x="819150" y="26722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Главное правило в контекстной рекламе - релевантность!</a:t>
            </a:r>
            <a:endParaRPr/>
          </a:p>
        </p:txBody>
      </p:sp>
      <p:pic>
        <p:nvPicPr>
          <p:cNvPr id="245" name="Google Shape;24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8625" y="1546750"/>
            <a:ext cx="5715526" cy="327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>
            <a:spLocks noGrp="1"/>
          </p:cNvSpPr>
          <p:nvPr>
            <p:ph type="title"/>
          </p:nvPr>
        </p:nvSpPr>
        <p:spPr>
          <a:xfrm>
            <a:off x="423100" y="265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Преимущества и недостатки контекстной рекламы</a:t>
            </a:r>
            <a:endParaRPr sz="2600"/>
          </a:p>
        </p:txBody>
      </p:sp>
      <p:sp>
        <p:nvSpPr>
          <p:cNvPr id="251" name="Google Shape;251;p28"/>
          <p:cNvSpPr txBox="1">
            <a:spLocks noGrp="1"/>
          </p:cNvSpPr>
          <p:nvPr>
            <p:ph type="body" idx="1"/>
          </p:nvPr>
        </p:nvSpPr>
        <p:spPr>
          <a:xfrm>
            <a:off x="471550" y="1727100"/>
            <a:ext cx="3528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ru" sz="1200" dirty="0"/>
              <a:t>Качественный </a:t>
            </a:r>
            <a:r>
              <a:rPr lang="ru" sz="1200" b="1" dirty="0">
                <a:highlight>
                  <a:srgbClr val="FFE599"/>
                </a:highlight>
              </a:rPr>
              <a:t>целевой трафик </a:t>
            </a:r>
            <a:br>
              <a:rPr lang="ru" sz="1200" dirty="0"/>
            </a:br>
            <a:r>
              <a:rPr lang="ru" sz="1200" dirty="0"/>
              <a:t>из поисковых систем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ru" sz="1200" dirty="0"/>
              <a:t>Возможны </a:t>
            </a:r>
            <a:r>
              <a:rPr lang="ru" sz="1200" b="1" dirty="0">
                <a:highlight>
                  <a:srgbClr val="FFE599"/>
                </a:highlight>
              </a:rPr>
              <a:t>быстрые результаты</a:t>
            </a:r>
            <a:r>
              <a:rPr lang="ru" sz="1200" dirty="0"/>
              <a:t>, по сравнению с SEO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ru" sz="1200" b="1" dirty="0">
                <a:highlight>
                  <a:srgbClr val="FFE599"/>
                </a:highlight>
              </a:rPr>
              <a:t>Подробная аналитика</a:t>
            </a:r>
            <a:r>
              <a:rPr lang="ru" sz="1200" dirty="0"/>
              <a:t> в различных разрезах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ru" sz="1200" dirty="0"/>
              <a:t>Охват аудитории Директа и РСЯ по данным Яндекса на 2017 год составил свыше 110 миллионов пользователей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ru" sz="1200" dirty="0"/>
              <a:t>Ненавязчивость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ru" sz="1200" dirty="0"/>
              <a:t>Гибкие условия таргетинга</a:t>
            </a:r>
            <a:endParaRPr sz="1200" dirty="0"/>
          </a:p>
        </p:txBody>
      </p:sp>
      <p:sp>
        <p:nvSpPr>
          <p:cNvPr id="252" name="Google Shape;252;p28"/>
          <p:cNvSpPr txBox="1">
            <a:spLocks noGrp="1"/>
          </p:cNvSpPr>
          <p:nvPr>
            <p:ph type="body" idx="1"/>
          </p:nvPr>
        </p:nvSpPr>
        <p:spPr>
          <a:xfrm>
            <a:off x="4764900" y="1727100"/>
            <a:ext cx="3528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ru" sz="1200" dirty="0"/>
              <a:t>Высокая конкуренция в некоторых тематиках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ru" sz="1200" dirty="0"/>
              <a:t>Требует постоянного контроля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ru" sz="1200" dirty="0"/>
              <a:t>В узких тематиках в регионах тяжело получить трафик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ru" sz="1200" dirty="0"/>
              <a:t>Доверие к рекламе ниже в целом, чем к органическому трафику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ru" sz="1200" dirty="0"/>
              <a:t>Это дорого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ru" sz="1200" dirty="0"/>
              <a:t>Недобросовестная конкуренция</a:t>
            </a:r>
            <a:endParaRPr sz="1200" dirty="0"/>
          </a:p>
        </p:txBody>
      </p:sp>
      <p:pic>
        <p:nvPicPr>
          <p:cNvPr id="253" name="Google Shape;25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3300" y="1026897"/>
            <a:ext cx="378000" cy="3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5025" y="985963"/>
            <a:ext cx="459875" cy="45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9"/>
          <p:cNvSpPr txBox="1">
            <a:spLocks noGrp="1"/>
          </p:cNvSpPr>
          <p:nvPr>
            <p:ph type="title"/>
          </p:nvPr>
        </p:nvSpPr>
        <p:spPr>
          <a:xfrm>
            <a:off x="311700" y="178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000000"/>
                </a:solidFill>
              </a:rPr>
              <a:t>Основные отличия контекстной рекламы от таргетированной</a:t>
            </a: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9"/>
          <p:cNvSpPr txBox="1">
            <a:spLocks noGrp="1"/>
          </p:cNvSpPr>
          <p:nvPr>
            <p:ph type="body" idx="1"/>
          </p:nvPr>
        </p:nvSpPr>
        <p:spPr>
          <a:xfrm>
            <a:off x="480475" y="1239275"/>
            <a:ext cx="3482700" cy="7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000000"/>
                </a:solidFill>
              </a:rPr>
              <a:t>Контекстная реклама – позволяет показывать объявления тем, кто сам ищет товары или услуги.</a:t>
            </a:r>
            <a:endParaRPr sz="12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</a:endParaRPr>
          </a:p>
        </p:txBody>
      </p:sp>
      <p:sp>
        <p:nvSpPr>
          <p:cNvPr id="261" name="Google Shape;261;p29"/>
          <p:cNvSpPr txBox="1">
            <a:spLocks noGrp="1"/>
          </p:cNvSpPr>
          <p:nvPr>
            <p:ph type="body" idx="1"/>
          </p:nvPr>
        </p:nvSpPr>
        <p:spPr>
          <a:xfrm>
            <a:off x="4799150" y="1200550"/>
            <a:ext cx="3717300" cy="7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 sz="1200">
                <a:solidFill>
                  <a:srgbClr val="434343"/>
                </a:solidFill>
              </a:rPr>
              <a:t>Главной целью таргетированной рекламы является поиск аудитории под предложение. </a:t>
            </a:r>
            <a:endParaRPr>
              <a:solidFill>
                <a:srgbClr val="434343"/>
              </a:solidFill>
            </a:endParaRPr>
          </a:p>
        </p:txBody>
      </p:sp>
      <p:pic>
        <p:nvPicPr>
          <p:cNvPr id="262" name="Google Shape;26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950" y="2225759"/>
            <a:ext cx="1093227" cy="34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2501" y="2153970"/>
            <a:ext cx="101722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9200" y="2012364"/>
            <a:ext cx="861350" cy="855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1113" y="361125"/>
            <a:ext cx="5175874" cy="317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0"/>
          <p:cNvSpPr txBox="1"/>
          <p:nvPr/>
        </p:nvSpPr>
        <p:spPr>
          <a:xfrm>
            <a:off x="1910975" y="4064400"/>
            <a:ext cx="50673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ru" sz="1200" b="1">
                <a:solidFill>
                  <a:srgbClr val="404248"/>
                </a:solidFill>
                <a:highlight>
                  <a:srgbClr val="FFFFFF"/>
                </a:highlight>
              </a:rPr>
              <a:t>Лестница узнаваемости/потребностей Бена Ханта – это</a:t>
            </a:r>
            <a:r>
              <a:rPr lang="ru" sz="1200">
                <a:solidFill>
                  <a:srgbClr val="404248"/>
                </a:solidFill>
                <a:highlight>
                  <a:srgbClr val="FFFFFF"/>
                </a:highlight>
              </a:rPr>
              <a:t> 5 ступеней осознания проблемы конкретного человека.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1"/>
          <p:cNvSpPr txBox="1">
            <a:spLocks noGrp="1"/>
          </p:cNvSpPr>
          <p:nvPr>
            <p:ph type="body" idx="1"/>
          </p:nvPr>
        </p:nvSpPr>
        <p:spPr>
          <a:xfrm>
            <a:off x="785875" y="1059000"/>
            <a:ext cx="7656900" cy="321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>
                <a:solidFill>
                  <a:srgbClr val="40424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Зачем нужна лестница потребностей?</a:t>
            </a:r>
            <a:endParaRPr sz="1200" b="1">
              <a:solidFill>
                <a:srgbClr val="40424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24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Для того, чтобы привести пользователя на нужную посадочную страницу, которая решит его проблему, выраженную поисковым запросом.</a:t>
            </a:r>
            <a:endParaRPr sz="1200">
              <a:solidFill>
                <a:srgbClr val="40424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24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Нужно понять и запомнить 3 важных момента.</a:t>
            </a:r>
            <a:endParaRPr sz="1200">
              <a:solidFill>
                <a:srgbClr val="40424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3800"/>
              </a:spcBef>
              <a:spcAft>
                <a:spcPts val="0"/>
              </a:spcAft>
              <a:buClr>
                <a:srgbClr val="404248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40424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Все люди начинают свой путь с первой ступеньки.</a:t>
            </a:r>
            <a:endParaRPr sz="1200">
              <a:solidFill>
                <a:srgbClr val="40424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04248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40424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Человек покупает/заказывает на 5 ступени.</a:t>
            </a:r>
            <a:endParaRPr sz="1200">
              <a:solidFill>
                <a:srgbClr val="40424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04248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40424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Для покупки нужно провести будущего Клиента по всем 5 ступеням.</a:t>
            </a:r>
            <a:endParaRPr sz="1200">
              <a:solidFill>
                <a:srgbClr val="40424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0"/>
              </a:spcBef>
              <a:spcAft>
                <a:spcPts val="1600"/>
              </a:spcAft>
              <a:buNone/>
            </a:pPr>
            <a:r>
              <a:rPr lang="ru"/>
              <a:t>Рассмотрим на примере маркетинговых услуг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2"/>
          <p:cNvSpPr txBox="1">
            <a:spLocks noGrp="1"/>
          </p:cNvSpPr>
          <p:nvPr>
            <p:ph type="body" idx="1"/>
          </p:nvPr>
        </p:nvSpPr>
        <p:spPr>
          <a:xfrm>
            <a:off x="624250" y="498075"/>
            <a:ext cx="7495200" cy="39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Ступень 1. Никаких проблем/клиент о них не знает</a:t>
            </a:r>
            <a:endParaRPr sz="900" b="1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7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На этом этапе условно можно выделить два типа людей, опять же, ссылаясь на наш пример:</a:t>
            </a:r>
            <a:endParaRPr sz="900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lnSpc>
                <a:spcPct val="170000"/>
              </a:lnSpc>
              <a:spcBef>
                <a:spcPts val="1900"/>
              </a:spcBef>
              <a:spcAft>
                <a:spcPts val="0"/>
              </a:spcAft>
              <a:buClr>
                <a:srgbClr val="303030"/>
              </a:buClr>
              <a:buSzPts val="900"/>
              <a:buFont typeface="Arial"/>
              <a:buAutoNum type="arabicPeriod"/>
            </a:pPr>
            <a:r>
              <a:rPr lang="ru" sz="90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Нет трудности с клиентами, потому что нет своего бизнеса. И это очевидно, нет бизнеса – нет проблем;</a:t>
            </a:r>
            <a:endParaRPr sz="900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900"/>
              <a:buFont typeface="Arial"/>
              <a:buAutoNum type="arabicPeriod"/>
            </a:pPr>
            <a:r>
              <a:rPr lang="ru" sz="90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Нет трудности с клиентами, потому что их продукт и так привлекает. Такое бывает, редко, но бывает. Когда человек открыл бизнес, а клиенты пошли толпами. В таком случае, можно сказать, о проблеме он не знает.</a:t>
            </a:r>
            <a:endParaRPr sz="900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7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На этом этапе не рекомендуется работать с клиентами, так как здесь Вам придется не просто убедить человека у Вас купить. Тут нужно будет сначала показать, что у него есть такая проблема, а уже потом убеждать у Вас покупать.</a:t>
            </a:r>
            <a:endParaRPr sz="900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70000"/>
              </a:lnSpc>
              <a:spcBef>
                <a:spcPts val="1900"/>
              </a:spcBef>
              <a:spcAft>
                <a:spcPts val="1900"/>
              </a:spcAft>
              <a:buNone/>
            </a:pPr>
            <a:r>
              <a:rPr lang="ru" sz="900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Нюанс. В некоторых нишах без этого этапа никуда. В особенности это касается инноваций. Поэтому если вы собираетесь плотно</a:t>
            </a:r>
            <a:br>
              <a:rPr lang="ru" sz="900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900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развиваться в сфере трафика, то необходимо разбираться в этих нюансах.</a:t>
            </a:r>
            <a:br>
              <a:rPr lang="ru" sz="900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ru" sz="900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900" i="1">
                <a:solidFill>
                  <a:srgbClr val="30303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Если все же вы решите работать с этой ступенью, то стоит работать с трафиком из РСЯ и КМС</a:t>
            </a:r>
            <a:endParaRPr sz="1000">
              <a:highlight>
                <a:srgbClr val="FFF2CC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/>
          <p:cNvSpPr txBox="1">
            <a:spLocks noGrp="1"/>
          </p:cNvSpPr>
          <p:nvPr>
            <p:ph type="body" idx="1"/>
          </p:nvPr>
        </p:nvSpPr>
        <p:spPr>
          <a:xfrm>
            <a:off x="790625" y="341175"/>
            <a:ext cx="7542600" cy="44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7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ru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Ступень 2. Есть проблема, но нет решения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7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 бизнеса нет клиентов. Я думаю многим это знакомо, так как все начинают с этой стадии. И в этот момент у любого нормального собственника возникает задача – найти решение.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7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таких ситуациях люди обычно начинают искать его, вводя в интернете запросы начинающиеся на ПОЧЕМУ, ЧТО или КАК. </a:t>
            </a:r>
            <a:br>
              <a:rPr lang="ru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Например, “Как привлечь клиентов” или “Почему выпадают волосы” (это к теме не относится, просто для примера).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7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 коротко, то клиент изучает возможные варианты решения его проблем и в том числе изучает, решаема ли она вообще.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7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Тут будет хорошо подловить его с помощью контент-маркетинга в виде статей, инфографики, видео, чтобы познакомить </a:t>
            </a:r>
            <a:br>
              <a:rPr lang="ru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более детально с проблемой и показать, что есть разные варианты решений. И как бы нативно подталкивать к решению </a:t>
            </a:r>
            <a:br>
              <a:rPr lang="ru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его проблемы, с помощью бесплатных консультаций.</a:t>
            </a:r>
            <a:endParaRPr sz="900">
              <a:solidFill>
                <a:srgbClr val="30303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900"/>
              </a:spcBef>
              <a:spcAft>
                <a:spcPts val="1600"/>
              </a:spcAft>
              <a:buNone/>
            </a:pP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4"/>
          <p:cNvSpPr txBox="1">
            <a:spLocks noGrp="1"/>
          </p:cNvSpPr>
          <p:nvPr>
            <p:ph type="body" idx="1"/>
          </p:nvPr>
        </p:nvSpPr>
        <p:spPr>
          <a:xfrm>
            <a:off x="486375" y="32200"/>
            <a:ext cx="8022600" cy="46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ru" sz="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Ступень 3. Сравнение вариантов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 этом этапе бизнесмен уже знает, что привлечь клиентов можно с помощью разных способов, таргет, контекст, сео, контент-маркетинг, ютуб и т.п., но какой из них лучший, какой привлечет максимальное количество клиентов и по самой низкой цене конкретно в его случае он не знает.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 так как в большинстве случаев бюджет ограничен (ограничение у всех разное), то он, не разбрасываясь деньгами, начинает выбирать.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 этом этапе как раз и предстоит самая большая работа с клиентом, так как в данном случае Вы доносите ему ценность своего решения, сравнивая свое решение с решениями конкурентов с помощью табличек, указаний выгод и недостатков и других каналов донесения информации, всю эту информацию вы должны отразить в своей</a:t>
            </a:r>
            <a:br>
              <a:rPr lang="ru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рекламе и на сайте и на всех остальных точках контакта.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Для примера, Вы – пришли ко мне, и я говорю Вам, что лучше сделайте сайт и запустите контекстную рекламу, а конкурент говорит, давайте создадим группу в социальных сетях и запустим таргетированную рекламу. 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Как Вы понимаете, на этом этапе Вы начинаете взвешивать. Причём, взвешивать можно очень разные факторы.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Можно сравнивать виды трафика (</a:t>
            </a:r>
            <a:r>
              <a:rPr lang="ru" sz="8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контекстная реклама</a:t>
            </a:r>
            <a:r>
              <a:rPr lang="ru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или </a:t>
            </a:r>
            <a:r>
              <a:rPr lang="ru" sz="8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таргетированная реклама</a:t>
            </a:r>
            <a:r>
              <a:rPr lang="ru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виды площадок (</a:t>
            </a:r>
            <a:r>
              <a:rPr lang="ru" sz="8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лендинг пейдж</a:t>
            </a:r>
            <a:r>
              <a:rPr lang="ru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или группа в соц. сетях), а можно опираться исключительно на убедительность менеджера, который рекомендует Вам тот или иной вариант решения проблемы. В конечном итоге выигрывает тот, кто был более</a:t>
            </a:r>
            <a:br>
              <a:rPr lang="ru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убедительным в глазах потенциального клиента.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900"/>
              </a:spcBef>
              <a:spcAft>
                <a:spcPts val="1600"/>
              </a:spcAft>
              <a:buNone/>
            </a:pPr>
            <a:endParaRPr sz="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>
            <a:spLocks noGrp="1"/>
          </p:cNvSpPr>
          <p:nvPr>
            <p:ph type="body" idx="1"/>
          </p:nvPr>
        </p:nvSpPr>
        <p:spPr>
          <a:xfrm>
            <a:off x="776350" y="3269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7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ru" sz="1100" b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Ступень 4. Выбор продукта</a:t>
            </a:r>
            <a:endParaRPr sz="1100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7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Например, на предыдущему этапе вы решили что Вам нужен сайт. Но сайты бывают разные, можно сделать Landing Page, а можно сделать обычный многостраничный сайт или интернет-магазин.</a:t>
            </a:r>
            <a:endParaRPr sz="1100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7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Представим, что сразу определились с Landing Page. Но он же тоже разный бывает: анимированный, не анимированный, с видео или без видео, с интегрированной </a:t>
            </a:r>
            <a:r>
              <a:rPr lang="ru" sz="1100">
                <a:solidFill>
                  <a:srgbClr val="1C5CA4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CRM</a:t>
            </a:r>
            <a:r>
              <a:rPr lang="ru" sz="110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 или нет и т.д.</a:t>
            </a:r>
            <a:endParaRPr sz="1100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7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Фактически на этом шаге клиент сравнивает разные предложения в рамках одного решения. Сравнивает, либо подбирает для себя. И мысли людей теперь выглядят так: “Почему Landing Page?”, “Что лучше: мультилендинг или лендинг?” - этим людям лучше показывать рекламу на поиске, так как у них уже сформировалась четкая потребность.</a:t>
            </a:r>
            <a:endParaRPr sz="1100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7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0303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Идеальный вариант - реклама на поиске и РСЯ</a:t>
            </a:r>
            <a:endParaRPr sz="1100">
              <a:solidFill>
                <a:srgbClr val="30303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900"/>
              </a:spcBef>
              <a:spcAft>
                <a:spcPts val="160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6"/>
          <p:cNvSpPr txBox="1">
            <a:spLocks noGrp="1"/>
          </p:cNvSpPr>
          <p:nvPr>
            <p:ph type="body" idx="1"/>
          </p:nvPr>
        </p:nvSpPr>
        <p:spPr>
          <a:xfrm>
            <a:off x="724075" y="288900"/>
            <a:ext cx="7442700" cy="35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7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ru" sz="700" b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Ступень 5. Выбор поставщика</a:t>
            </a:r>
            <a:endParaRPr sz="700" b="1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7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Если мы не думаем о ступени узнаваемости при разработке рекламных материалов, то мы автоматически делаем пятый этап, когда клиент знает проблему, знает варианты решения и даже определил подходящий вариант для него.</a:t>
            </a:r>
            <a:br>
              <a:rPr lang="ru" sz="70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ru" sz="70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70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В нашем случае будем продолжать историю, что он выбрал Landing Page + контекстная реклама.</a:t>
            </a:r>
            <a:endParaRPr sz="700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7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Но мы же прекрасно понимаем, что мы не единственная компания, которая оказывает такие услуги на рынке. Поэтому он начинает теперь выбирать среди компаний, брендов.</a:t>
            </a:r>
            <a:br>
              <a:rPr lang="ru" sz="70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70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Кого же выбрать? Кого? </a:t>
            </a:r>
            <a:r>
              <a:rPr lang="ru" sz="70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И как раз здесь мы начинаем рассказывать о том, что у нас самая лучшая компания, самый лучший сервис, самый доброжелательный персонал и самые вкусные печеньки. В том числе сыпем акциями, спец. предложениями, распродажами, чтобы привлечь к себе будущего любимого клиента.</a:t>
            </a:r>
            <a:endParaRPr sz="700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7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700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Важно. На этом этапе не нужно усугублять проблему, он её и так хорошо знает. Здесь нужно донести плюсы Вас.</a:t>
            </a:r>
            <a:br>
              <a:rPr lang="ru" sz="700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700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Для этой задачи подходит лучше всего реклама на поиске, а вот позиция показа зависит уже от ниши, которую вы рекламируете. Например если это услуги по продаже недвижимости, то скорее всего пользователь будет изучать кучу сайтов и выбирать там, нет смысла стремиться показываться на первом месте, достаточно просто показываться вверху (3-4 место размещения) и не переплачивать лишние деньги. Если говорить о нишах в которых решение принимается здесь и сейчас, например вызов эвакуатора или взлом замка дверного, то тут строго боремся за первое место, при том учете, что у нас конкурентное предложение.</a:t>
            </a:r>
            <a:endParaRPr sz="700" i="1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900"/>
              </a:spcBef>
              <a:spcAft>
                <a:spcPts val="1600"/>
              </a:spcAft>
              <a:buNone/>
            </a:pPr>
            <a:endParaRPr sz="300"/>
          </a:p>
        </p:txBody>
      </p:sp>
      <p:sp>
        <p:nvSpPr>
          <p:cNvPr id="301" name="Google Shape;301;p36"/>
          <p:cNvSpPr txBox="1"/>
          <p:nvPr/>
        </p:nvSpPr>
        <p:spPr>
          <a:xfrm>
            <a:off x="724075" y="4064425"/>
            <a:ext cx="41406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70000"/>
              </a:lnSpc>
              <a:spcBef>
                <a:spcPts val="1900"/>
              </a:spcBef>
              <a:spcAft>
                <a:spcPts val="1900"/>
              </a:spcAft>
              <a:buNone/>
            </a:pPr>
            <a:r>
              <a:rPr lang="ru" sz="1100">
                <a:solidFill>
                  <a:srgbClr val="303030"/>
                </a:solidFill>
                <a:highlight>
                  <a:srgbClr val="FFF2CC"/>
                </a:highlight>
              </a:rPr>
              <a:t>Идеальный вариант - реклама на поиске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7"/>
          <p:cNvSpPr txBox="1">
            <a:spLocks noGrp="1"/>
          </p:cNvSpPr>
          <p:nvPr>
            <p:ph type="body" idx="1"/>
          </p:nvPr>
        </p:nvSpPr>
        <p:spPr>
          <a:xfrm>
            <a:off x="851650" y="488600"/>
            <a:ext cx="44988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 sz="1400"/>
              <a:t>Главный вопрос. На каком этапе стоит начинать работу?</a:t>
            </a:r>
            <a:endParaRPr sz="1400"/>
          </a:p>
        </p:txBody>
      </p:sp>
      <p:sp>
        <p:nvSpPr>
          <p:cNvPr id="307" name="Google Shape;307;p37"/>
          <p:cNvSpPr txBox="1"/>
          <p:nvPr/>
        </p:nvSpPr>
        <p:spPr>
          <a:xfrm>
            <a:off x="851650" y="1233900"/>
            <a:ext cx="7510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Calibri"/>
                <a:ea typeface="Calibri"/>
                <a:cs typeface="Calibri"/>
                <a:sym typeface="Calibri"/>
              </a:rPr>
              <a:t>Однозначного ответа на этот вопрос к сожалению нету, тут все зависит исключительно от целей проекта, возможностей заказчика и от специфики тематики, а также от текущей ситуации в которой находится бизнес.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7"/>
          <p:cNvSpPr txBox="1"/>
          <p:nvPr/>
        </p:nvSpPr>
        <p:spPr>
          <a:xfrm>
            <a:off x="851650" y="2756175"/>
            <a:ext cx="648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70%  успеха рекламы зависит от правильно выбранного канала на старте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8"/>
          <p:cNvSpPr txBox="1">
            <a:spLocks noGrp="1"/>
          </p:cNvSpPr>
          <p:nvPr>
            <p:ph type="title"/>
          </p:nvPr>
        </p:nvSpPr>
        <p:spPr>
          <a:xfrm>
            <a:off x="785600" y="3359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Примеры</a:t>
            </a:r>
            <a:endParaRPr/>
          </a:p>
        </p:txBody>
      </p:sp>
      <p:sp>
        <p:nvSpPr>
          <p:cNvPr id="314" name="Google Shape;314;p38"/>
          <p:cNvSpPr txBox="1">
            <a:spLocks noGrp="1"/>
          </p:cNvSpPr>
          <p:nvPr>
            <p:ph type="body" idx="1"/>
          </p:nvPr>
        </p:nvSpPr>
        <p:spPr>
          <a:xfrm>
            <a:off x="785600" y="1085425"/>
            <a:ext cx="2480100" cy="3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Продвижение салона красоты</a:t>
            </a:r>
            <a:endParaRPr/>
          </a:p>
        </p:txBody>
      </p:sp>
      <p:pic>
        <p:nvPicPr>
          <p:cNvPr id="315" name="Google Shape;31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7200" y="1012650"/>
            <a:ext cx="5467160" cy="341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/>
          <p:cNvSpPr txBox="1">
            <a:spLocks noGrp="1"/>
          </p:cNvSpPr>
          <p:nvPr>
            <p:ph type="title"/>
          </p:nvPr>
        </p:nvSpPr>
        <p:spPr>
          <a:xfrm>
            <a:off x="819150" y="30912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</a:t>
            </a:r>
            <a:endParaRPr/>
          </a:p>
        </p:txBody>
      </p:sp>
      <p:sp>
        <p:nvSpPr>
          <p:cNvPr id="321" name="Google Shape;321;p39"/>
          <p:cNvSpPr txBox="1">
            <a:spLocks noGrp="1"/>
          </p:cNvSpPr>
          <p:nvPr>
            <p:ph type="body" idx="1"/>
          </p:nvPr>
        </p:nvSpPr>
        <p:spPr>
          <a:xfrm>
            <a:off x="819150" y="1051875"/>
            <a:ext cx="1782900" cy="3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Услуги эвакуатора</a:t>
            </a:r>
            <a:endParaRPr/>
          </a:p>
        </p:txBody>
      </p:sp>
      <p:pic>
        <p:nvPicPr>
          <p:cNvPr id="322" name="Google Shape;32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5325" y="1051875"/>
            <a:ext cx="4888550" cy="32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/>
          <p:cNvSpPr txBox="1">
            <a:spLocks noGrp="1"/>
          </p:cNvSpPr>
          <p:nvPr>
            <p:ph type="title"/>
          </p:nvPr>
        </p:nvSpPr>
        <p:spPr>
          <a:xfrm>
            <a:off x="819150" y="3158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</a:t>
            </a:r>
            <a:endParaRPr/>
          </a:p>
        </p:txBody>
      </p:sp>
      <p:sp>
        <p:nvSpPr>
          <p:cNvPr id="328" name="Google Shape;328;p40"/>
          <p:cNvSpPr txBox="1">
            <a:spLocks noGrp="1"/>
          </p:cNvSpPr>
          <p:nvPr>
            <p:ph type="body" idx="1"/>
          </p:nvPr>
        </p:nvSpPr>
        <p:spPr>
          <a:xfrm>
            <a:off x="752100" y="1186000"/>
            <a:ext cx="25473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Ремонт бытовой техники</a:t>
            </a:r>
            <a:endParaRPr/>
          </a:p>
        </p:txBody>
      </p:sp>
      <p:pic>
        <p:nvPicPr>
          <p:cNvPr id="329" name="Google Shape;32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2250" y="1127775"/>
            <a:ext cx="5319668" cy="356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1"/>
          <p:cNvSpPr txBox="1">
            <a:spLocks noGrp="1"/>
          </p:cNvSpPr>
          <p:nvPr>
            <p:ph type="title"/>
          </p:nvPr>
        </p:nvSpPr>
        <p:spPr>
          <a:xfrm>
            <a:off x="1268450" y="2890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/>
              <a:t>Основные инструменты которые понадобятся для работы</a:t>
            </a:r>
            <a:endParaRPr sz="2700"/>
          </a:p>
        </p:txBody>
      </p:sp>
      <p:sp>
        <p:nvSpPr>
          <p:cNvPr id="335" name="Google Shape;335;p41"/>
          <p:cNvSpPr txBox="1">
            <a:spLocks noGrp="1"/>
          </p:cNvSpPr>
          <p:nvPr>
            <p:ph type="body" idx="1"/>
          </p:nvPr>
        </p:nvSpPr>
        <p:spPr>
          <a:xfrm>
            <a:off x="819150" y="152310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b="1"/>
              <a:t>Excel</a:t>
            </a:r>
            <a:r>
              <a:rPr lang="ru"/>
              <a:t> (Работа с семантическим ядром, сегментация, работа с объявлениями, работа с отчетами, импорт/экспорт рекламных кампаний);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b="1"/>
              <a:t>KeyCollector</a:t>
            </a:r>
            <a:r>
              <a:rPr lang="ru"/>
              <a:t> (программа для работы с семантикой), есть бесплатный аналог;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b="1"/>
              <a:t>Редактор кампаний</a:t>
            </a:r>
            <a:r>
              <a:rPr lang="ru"/>
              <a:t> - Direct Commander &amp; Ads Editor;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b="1"/>
              <a:t>Редакторы изображений</a:t>
            </a:r>
            <a:endParaRPr b="1"/>
          </a:p>
        </p:txBody>
      </p:sp>
      <p:pic>
        <p:nvPicPr>
          <p:cNvPr id="336" name="Google Shape;33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6550" y="3965550"/>
            <a:ext cx="694026" cy="67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976" y="3917913"/>
            <a:ext cx="771925" cy="77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4325" y="4013502"/>
            <a:ext cx="864800" cy="58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44550" y="3800575"/>
            <a:ext cx="921776" cy="921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90975" y="3871463"/>
            <a:ext cx="864801" cy="86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"/>
          <p:cNvSpPr txBox="1">
            <a:spLocks noGrp="1"/>
          </p:cNvSpPr>
          <p:nvPr>
            <p:ph type="title"/>
          </p:nvPr>
        </p:nvSpPr>
        <p:spPr>
          <a:xfrm>
            <a:off x="819150" y="30912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/>
              <a:t>Основные сервисы которые  пригодятся в работе</a:t>
            </a:r>
            <a:endParaRPr sz="2700"/>
          </a:p>
        </p:txBody>
      </p:sp>
      <p:sp>
        <p:nvSpPr>
          <p:cNvPr id="346" name="Google Shape;346;p42"/>
          <p:cNvSpPr txBox="1">
            <a:spLocks noGrp="1"/>
          </p:cNvSpPr>
          <p:nvPr>
            <p:ph type="body" idx="1"/>
          </p:nvPr>
        </p:nvSpPr>
        <p:spPr>
          <a:xfrm>
            <a:off x="785625" y="154815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Биддеры - elama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Сервисы по изготовлению Utm-меток - adpump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Коллтрекинги - Callibri, Calltouch, Mango Office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Подборщики ключевых слов -Wordstat yandex, Планировщик ключевых слов от Google, SpyWords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Оптимизация ставок (KPI) - Origami, K50, Roistat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 txBox="1">
            <a:spLocks noGrp="1"/>
          </p:cNvSpPr>
          <p:nvPr>
            <p:ph type="title"/>
          </p:nvPr>
        </p:nvSpPr>
        <p:spPr>
          <a:xfrm>
            <a:off x="819150" y="4533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отличия контекстной рекламы в Яндекс Директ &amp; Google Ads</a:t>
            </a:r>
            <a:endParaRPr/>
          </a:p>
        </p:txBody>
      </p:sp>
      <p:sp>
        <p:nvSpPr>
          <p:cNvPr id="352" name="Google Shape;352;p43"/>
          <p:cNvSpPr txBox="1">
            <a:spLocks noGrp="1"/>
          </p:cNvSpPr>
          <p:nvPr>
            <p:ph type="body" idx="1"/>
          </p:nvPr>
        </p:nvSpPr>
        <p:spPr>
          <a:xfrm>
            <a:off x="819150" y="1611800"/>
            <a:ext cx="7505700" cy="28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Типы соответствия ключевых фраз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Расширения объявлений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Приоритетность минус-фраз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Автоматические правила и скрипты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Возможности геотаргетинга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Аудитория рекламных систем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Стратегии назначения ставок</a:t>
            </a:r>
            <a:endParaRPr/>
          </a:p>
        </p:txBody>
      </p:sp>
      <p:pic>
        <p:nvPicPr>
          <p:cNvPr id="353" name="Google Shape;35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2225" y="1906488"/>
            <a:ext cx="3350887" cy="22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400" y="304225"/>
            <a:ext cx="3967300" cy="437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5"/>
          <p:cNvSpPr txBox="1">
            <a:spLocks noGrp="1"/>
          </p:cNvSpPr>
          <p:nvPr>
            <p:ph type="title"/>
          </p:nvPr>
        </p:nvSpPr>
        <p:spPr>
          <a:xfrm>
            <a:off x="819150" y="37022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Расширения объявлений</a:t>
            </a:r>
            <a:endParaRPr/>
          </a:p>
        </p:txBody>
      </p:sp>
      <p:pic>
        <p:nvPicPr>
          <p:cNvPr id="364" name="Google Shape;36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1675" y="1207450"/>
            <a:ext cx="4467301" cy="352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725" y="1207450"/>
            <a:ext cx="4017725" cy="3493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Приоритет минус-фраз</a:t>
            </a:r>
            <a:endParaRPr/>
          </a:p>
        </p:txBody>
      </p:sp>
      <p:sp>
        <p:nvSpPr>
          <p:cNvPr id="371" name="Google Shape;371;p46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rPr>
              <a:t>Если в яндексе ключевое слово имеет больший приоритет и даже несмотря на то, что у вас будет добавлены минус фраза “отзывы”, но в рекламной кампании будет содержаться условие показа “отзывы о курсах английского языка” показ все равно будет.</a:t>
            </a:r>
            <a:br>
              <a:rPr lang="ru" sz="1200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ru" sz="1200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200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rPr>
              <a:t>В гугле же, у вас будет конфликт и придется либо удалять ключевое слово, либо  убирать минус фразу.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7"/>
          <p:cNvSpPr txBox="1">
            <a:spLocks noGrp="1"/>
          </p:cNvSpPr>
          <p:nvPr>
            <p:ph type="title"/>
          </p:nvPr>
        </p:nvSpPr>
        <p:spPr>
          <a:xfrm>
            <a:off x="785875" y="30842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Скрипты и правила</a:t>
            </a:r>
            <a:endParaRPr/>
          </a:p>
        </p:txBody>
      </p:sp>
      <p:sp>
        <p:nvSpPr>
          <p:cNvPr id="377" name="Google Shape;377;p47"/>
          <p:cNvSpPr txBox="1">
            <a:spLocks noGrp="1"/>
          </p:cNvSpPr>
          <p:nvPr>
            <p:ph type="body" idx="1"/>
          </p:nvPr>
        </p:nvSpPr>
        <p:spPr>
          <a:xfrm>
            <a:off x="819150" y="973425"/>
            <a:ext cx="72954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Начнем с определения. Скрипт - это фрагменты JavaScript-кода, которые автоматизируют функции как внутри аккаунта, так и взаимодействие с внешними данными.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Они освобождают от многих рутинных операций: от управления ставками до сплит-тестирования, от построения отчетов до поиска ошибок. Тем самым вы экономите время и можете фокусироваться на эффективности и конечных целях кампании.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Часто используется классификация скриптов по задачам, которые они выполняют: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73050" algn="just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00"/>
              <a:buFont typeface="Arial"/>
              <a:buChar char="●"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Оптимизация ставок;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73050" algn="just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00"/>
              <a:buFont typeface="Arial"/>
              <a:buChar char="●"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Приостановка и удаление кампаний;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73050" algn="just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00"/>
              <a:buFont typeface="Arial"/>
              <a:buChar char="●"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На основе внешних данных;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73050" algn="just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00"/>
              <a:buFont typeface="Arial"/>
              <a:buChar char="●"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Назначение ставок и управление бюджетами;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73050" algn="just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00"/>
              <a:buFont typeface="Arial"/>
              <a:buChar char="●"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Инструменты;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73050" algn="just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00"/>
              <a:buFont typeface="Arial"/>
              <a:buChar char="●"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Настройка уведомлений;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73050" algn="just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00"/>
              <a:buFont typeface="Arial"/>
              <a:buChar char="●"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Работа с отчетами;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73050" algn="just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00"/>
              <a:buFont typeface="Arial"/>
              <a:buChar char="●"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Запуск сезонных кампаний;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73050" algn="just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00"/>
              <a:buFont typeface="Arial"/>
              <a:buChar char="●"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Автоматизация технических задач;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73050" algn="just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00"/>
              <a:buFont typeface="Arial"/>
              <a:buChar char="●"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Создание ярлыков;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73050" algn="just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00"/>
              <a:buFont typeface="Arial"/>
              <a:buChar char="●"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Отслеживание данных по кампаниям;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73050" algn="just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00"/>
              <a:buFont typeface="Arial"/>
              <a:buChar char="●"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Работа с текстами объявлений;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73050" algn="just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00"/>
              <a:buFont typeface="Arial"/>
              <a:buChar char="●"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Работа с ключевыми словами;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73050" algn="just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00"/>
              <a:buFont typeface="Arial"/>
              <a:buChar char="●"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Настройка кампаний в КМС;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73050" algn="just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00"/>
              <a:buFont typeface="Arial"/>
              <a:buChar char="●"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Настройка торговых кампаний (Google Shopping).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  <a:t>В открытом доступе много готовых скриптов, но особенно полезными их делает возможность кастомизации. Для этого нужно знать, из каких элементов состоит скрипт.</a:t>
            </a:r>
            <a:b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ru" sz="700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rPr>
            </a:br>
            <a:endParaRPr sz="700">
              <a:solidFill>
                <a:srgbClr val="52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52525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Автоматизированные правила позволяют управлять аккаунтом с помощью критериев, которые вы настраиваете сами: показывать объявления по расписанию, менять ставки по времени суток, сезону, позиции в выдаче и т.д. Не нужно постоянно вручную мониторить статистику и вносить изменения в кампании</a:t>
            </a:r>
            <a:br>
              <a:rPr lang="ru" sz="700">
                <a:solidFill>
                  <a:srgbClr val="52525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endParaRPr sz="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8"/>
          <p:cNvSpPr txBox="1">
            <a:spLocks noGrp="1"/>
          </p:cNvSpPr>
          <p:nvPr>
            <p:ph type="title"/>
          </p:nvPr>
        </p:nvSpPr>
        <p:spPr>
          <a:xfrm>
            <a:off x="819150" y="2894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Аудитория рекламных систем</a:t>
            </a:r>
            <a:endParaRPr/>
          </a:p>
        </p:txBody>
      </p:sp>
      <p:sp>
        <p:nvSpPr>
          <p:cNvPr id="383" name="Google Shape;383;p48"/>
          <p:cNvSpPr txBox="1">
            <a:spLocks noGrp="1"/>
          </p:cNvSpPr>
          <p:nvPr>
            <p:ph type="body" idx="1"/>
          </p:nvPr>
        </p:nvSpPr>
        <p:spPr>
          <a:xfrm>
            <a:off x="819150" y="152485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52525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Аудитория Гугла по большей степени состоит из мобильных пользователей и Гугл очень сильно обращает внимание на момент адаптивность вашего сайта к мобильному трафика. Поэтому перед тем как настраивать рекламу на сайт, необходимо убедиться в том, что сайт адаптивен, иначе вы получите заоблачную стоимость клика и как следствие дорогую стоимость заявки.</a:t>
            </a:r>
            <a:br>
              <a:rPr lang="ru" sz="1200">
                <a:solidFill>
                  <a:srgbClr val="52525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9"/>
          <p:cNvSpPr txBox="1">
            <a:spLocks noGrp="1"/>
          </p:cNvSpPr>
          <p:nvPr>
            <p:ph type="body" idx="1"/>
          </p:nvPr>
        </p:nvSpPr>
        <p:spPr>
          <a:xfrm>
            <a:off x="648000" y="759550"/>
            <a:ext cx="7505700" cy="42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ru" sz="7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br>
              <a:rPr lang="ru" sz="7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endParaRPr sz="7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7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 b="1" i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Автоматический или ручной биддинг</a:t>
            </a:r>
            <a:endParaRPr sz="700" b="1" i="1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Назначение цены за клик вручную - </a:t>
            </a:r>
            <a:r>
              <a:rPr lang="ru" sz="700">
                <a:solidFill>
                  <a:srgbClr val="000000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Вы назначаете ставки для отдельных рекламных групп или таргетингов самостоятельно.</a:t>
            </a:r>
            <a:endParaRPr sz="7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Можно комбинировать ручное управление с автоматическим, если включить при этом оптимизатор цены за конверсию:</a:t>
            </a:r>
            <a:endParaRPr sz="7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ru" sz="7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endParaRPr sz="7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Автоматические стратегии</a:t>
            </a:r>
            <a:endParaRPr sz="7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7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Некоторый перечень стратегий :</a:t>
            </a:r>
            <a:endParaRPr sz="7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1) Целевая цена за конверсию – вы получаете максимум конверсий по конкретной цене, которую указываете + Google немного её корректирует под контекстные сигналы;</a:t>
            </a:r>
            <a:endParaRPr sz="7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2) Целевая рентабельность инвестиций в рекламу – вы указываете, какую рентабельность от рекламного бюджета хотите получить, а Google подбирает ставки в соответствии с ней;</a:t>
            </a:r>
            <a:endParaRPr sz="7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3) Оптимизатор цены за конверсию – данный инструмент корректирует ставки в зависимости от вероятности совершения целевого действия;</a:t>
            </a:r>
            <a:endParaRPr sz="7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4) Максимум конверсий – вы получаете наибольшее число конверсий в пределах текущего дневного бюджета;</a:t>
            </a:r>
            <a:endParaRPr sz="7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5) Целевой процент полученных показов (только на поиске) – эта стратегия повышает шансы показа объявлений в выбранной вами области страницы с результатами поиска;</a:t>
            </a:r>
            <a:endParaRPr sz="7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6) Цена за тысячу показов в видимой области экрана (только в КМС) – подходит, если вы хотите заявить о себе широкой аудитории, а не наращивать трафик и количество кликов.</a:t>
            </a:r>
            <a:endParaRPr sz="7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7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9"/>
          <p:cNvSpPr txBox="1">
            <a:spLocks noGrp="1"/>
          </p:cNvSpPr>
          <p:nvPr>
            <p:ph type="title"/>
          </p:nvPr>
        </p:nvSpPr>
        <p:spPr>
          <a:xfrm>
            <a:off x="819150" y="218100"/>
            <a:ext cx="7505700" cy="5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Стратегии назначения ставок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6925" y="350350"/>
            <a:ext cx="4153226" cy="415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1"/>
          <p:cNvSpPr txBox="1">
            <a:spLocks noGrp="1"/>
          </p:cNvSpPr>
          <p:nvPr>
            <p:ph type="title"/>
          </p:nvPr>
        </p:nvSpPr>
        <p:spPr>
          <a:xfrm>
            <a:off x="344975" y="598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Что же такое </a:t>
            </a:r>
            <a:r>
              <a:rPr lang="ru">
                <a:solidFill>
                  <a:srgbClr val="000000"/>
                </a:solidFill>
                <a:highlight>
                  <a:srgbClr val="FFE599"/>
                </a:highlight>
              </a:rPr>
              <a:t>Яндекс Метрика</a:t>
            </a:r>
            <a:endParaRPr>
              <a:solidFill>
                <a:srgbClr val="000000"/>
              </a:solidFill>
              <a:highlight>
                <a:srgbClr val="FFE599"/>
              </a:highlight>
            </a:endParaRPr>
          </a:p>
        </p:txBody>
      </p:sp>
      <p:sp>
        <p:nvSpPr>
          <p:cNvPr id="400" name="Google Shape;400;p51"/>
          <p:cNvSpPr txBox="1"/>
          <p:nvPr/>
        </p:nvSpPr>
        <p:spPr>
          <a:xfrm>
            <a:off x="565675" y="1811150"/>
            <a:ext cx="7330200" cy="9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ru" sz="1200">
                <a:solidFill>
                  <a:srgbClr val="525252"/>
                </a:solidFill>
              </a:rPr>
              <a:t>Яндекс.Метрика — это сервис отслеживания и анализа посещаемости сайта от поисковой системы Яндекс. С его помощью можно получить подробные отчеты о действиях посетителей на сайте, информацию об источниках трафика и самостоятельно делать выводы об эффективности.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25" y="1466537"/>
            <a:ext cx="1678026" cy="1678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0299" y="1939213"/>
            <a:ext cx="1133049" cy="73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9900" y="1226077"/>
            <a:ext cx="2775000" cy="207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2249" y="1991788"/>
            <a:ext cx="1133049" cy="73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82475" y="1457889"/>
            <a:ext cx="1678024" cy="1614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0375" y="1483125"/>
            <a:ext cx="4806752" cy="266082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3"/>
          <p:cNvSpPr txBox="1"/>
          <p:nvPr/>
        </p:nvSpPr>
        <p:spPr>
          <a:xfrm>
            <a:off x="484875" y="1359550"/>
            <a:ext cx="2847300" cy="30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150">
                <a:highlight>
                  <a:srgbClr val="FFFFFF"/>
                </a:highlight>
              </a:rPr>
              <a:t>На странице Сводка доступна краткая общая статистика вашего сайта. Эта информация позволит быстро оценить динамику посещаемости, источники трафика, качество страниц сайта и т. д. Статистика отображается с помощью виджетов.</a:t>
            </a:r>
            <a:endParaRPr sz="115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150">
                <a:highlight>
                  <a:srgbClr val="FFFFFF"/>
                </a:highlight>
              </a:rPr>
              <a:t>Для анализа вы можете изменять период времени, за который отображаются данные и </a:t>
            </a:r>
            <a:r>
              <a:rPr lang="ru" sz="1150">
                <a:highlight>
                  <a:srgbClr val="FFFFFF"/>
                </a:highlight>
                <a:uFill>
                  <a:noFill/>
                </a:uFill>
                <a:hlinkClick r:id="rId4"/>
              </a:rPr>
              <a:t>детализировать их</a:t>
            </a:r>
            <a:r>
              <a:rPr lang="ru" sz="1150">
                <a:highlight>
                  <a:srgbClr val="FFFFFF"/>
                </a:highlight>
              </a:rPr>
              <a:t>.</a:t>
            </a:r>
            <a:endParaRPr sz="115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4"/>
          <p:cNvSpPr txBox="1">
            <a:spLocks noGrp="1"/>
          </p:cNvSpPr>
          <p:nvPr>
            <p:ph type="title"/>
          </p:nvPr>
        </p:nvSpPr>
        <p:spPr>
          <a:xfrm>
            <a:off x="819150" y="4558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Задачи которые можно решить с помощью веб-аналитики</a:t>
            </a:r>
            <a:endParaRPr/>
          </a:p>
        </p:txBody>
      </p:sp>
      <p:sp>
        <p:nvSpPr>
          <p:cNvPr id="421" name="Google Shape;421;p5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Оптимизировать рекламные расходы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Найти уязвимые места на сайте. Откуда чаще всего уходят люди, какие страницы им не нравятся.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Увеличить прибыль бизнеса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Понять основные пути клиентов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Узнать откуда пользователи приходят на сайт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 sz="1200">
                <a:solidFill>
                  <a:srgbClr val="2E2E2E"/>
                </a:solidFill>
                <a:latin typeface="Trebuchet MS"/>
                <a:ea typeface="Trebuchet MS"/>
                <a:cs typeface="Trebuchet MS"/>
                <a:sym typeface="Trebuchet MS"/>
              </a:rPr>
              <a:t>Получить развернутые данные о посетителях, их активности на странице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5"/>
          <p:cNvSpPr txBox="1">
            <a:spLocks noGrp="1"/>
          </p:cNvSpPr>
          <p:nvPr>
            <p:ph type="title"/>
          </p:nvPr>
        </p:nvSpPr>
        <p:spPr>
          <a:xfrm>
            <a:off x="819150" y="4272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можно делать в Яндекс Метрике</a:t>
            </a:r>
            <a:endParaRPr/>
          </a:p>
        </p:txBody>
      </p:sp>
      <p:sp>
        <p:nvSpPr>
          <p:cNvPr id="427" name="Google Shape;427;p55"/>
          <p:cNvSpPr txBox="1">
            <a:spLocks noGrp="1"/>
          </p:cNvSpPr>
          <p:nvPr>
            <p:ph type="body" idx="1"/>
          </p:nvPr>
        </p:nvSpPr>
        <p:spPr>
          <a:xfrm>
            <a:off x="752575" y="1347750"/>
            <a:ext cx="7572300" cy="290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9300" lvl="0" indent="-32385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lang="ru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Смотреть, как ведут себя пользователи на сайте, куда они кликают, как взаимодействуют с формами</a:t>
            </a:r>
            <a:endParaRPr sz="15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9300" lvl="0" indent="-32385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lang="ru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Считать показатели конверсии</a:t>
            </a:r>
            <a:endParaRPr sz="15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9300" lvl="0" indent="-32385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lang="ru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Отслеживать важные для бизнеса показатели</a:t>
            </a:r>
            <a:endParaRPr sz="15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9300" lvl="0" indent="-32385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lang="ru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Анализировать результаты A/B-тестирования рекламных кампаний</a:t>
            </a:r>
            <a:endParaRPr sz="15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9300" lvl="0" indent="-32385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lang="ru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Анализировать эффективность разных каналов рекламы</a:t>
            </a:r>
            <a:endParaRPr sz="15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6"/>
          <p:cNvSpPr txBox="1">
            <a:spLocks noGrp="1"/>
          </p:cNvSpPr>
          <p:nvPr>
            <p:ph type="title"/>
          </p:nvPr>
        </p:nvSpPr>
        <p:spPr>
          <a:xfrm>
            <a:off x="819150" y="37022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Подключение Яндекс Метрики к сайту</a:t>
            </a:r>
            <a:endParaRPr/>
          </a:p>
        </p:txBody>
      </p:sp>
      <p:pic>
        <p:nvPicPr>
          <p:cNvPr id="433" name="Google Shape;43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826" y="1455025"/>
            <a:ext cx="5000900" cy="263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6"/>
          <p:cNvSpPr txBox="1"/>
          <p:nvPr/>
        </p:nvSpPr>
        <p:spPr>
          <a:xfrm>
            <a:off x="594175" y="1549725"/>
            <a:ext cx="2781000" cy="26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Calibri"/>
                <a:ea typeface="Calibri"/>
                <a:cs typeface="Calibri"/>
                <a:sym typeface="Calibri"/>
              </a:rPr>
              <a:t>Код счетчика – это скрипт (фрагмент кода) позволяющий отслеживать действия пользователей на сайте. С его помощью вы также сможете собирать данные о посетителях сайта и на основе этих данных создавать аудитории.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>
            <a:spLocks noGrp="1"/>
          </p:cNvSpPr>
          <p:nvPr>
            <p:ph type="title"/>
          </p:nvPr>
        </p:nvSpPr>
        <p:spPr>
          <a:xfrm>
            <a:off x="819150" y="3292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инструменты </a:t>
            </a:r>
            <a:r>
              <a:rPr lang="ru">
                <a:highlight>
                  <a:srgbClr val="FFE599"/>
                </a:highlight>
              </a:rPr>
              <a:t>Яндекс Метрики</a:t>
            </a:r>
            <a:endParaRPr>
              <a:highlight>
                <a:srgbClr val="FFE599"/>
              </a:highlight>
            </a:endParaRPr>
          </a:p>
        </p:txBody>
      </p:sp>
      <p:sp>
        <p:nvSpPr>
          <p:cNvPr id="440" name="Google Shape;440;p57"/>
          <p:cNvSpPr txBox="1"/>
          <p:nvPr/>
        </p:nvSpPr>
        <p:spPr>
          <a:xfrm>
            <a:off x="806225" y="1692575"/>
            <a:ext cx="27897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Вебвизор</a:t>
            </a:r>
            <a:endParaRPr sz="1600"/>
          </a:p>
        </p:txBody>
      </p:sp>
      <p:sp>
        <p:nvSpPr>
          <p:cNvPr id="441" name="Google Shape;441;p57"/>
          <p:cNvSpPr txBox="1"/>
          <p:nvPr/>
        </p:nvSpPr>
        <p:spPr>
          <a:xfrm>
            <a:off x="3595925" y="1692575"/>
            <a:ext cx="27897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Карта кликов</a:t>
            </a:r>
            <a:endParaRPr sz="1600"/>
          </a:p>
        </p:txBody>
      </p:sp>
      <p:sp>
        <p:nvSpPr>
          <p:cNvPr id="442" name="Google Shape;442;p57"/>
          <p:cNvSpPr txBox="1"/>
          <p:nvPr/>
        </p:nvSpPr>
        <p:spPr>
          <a:xfrm>
            <a:off x="731000" y="2905625"/>
            <a:ext cx="27897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Карта скроллинга</a:t>
            </a:r>
            <a:endParaRPr sz="1600"/>
          </a:p>
        </p:txBody>
      </p:sp>
      <p:sp>
        <p:nvSpPr>
          <p:cNvPr id="443" name="Google Shape;443;p57"/>
          <p:cNvSpPr txBox="1"/>
          <p:nvPr/>
        </p:nvSpPr>
        <p:spPr>
          <a:xfrm>
            <a:off x="5915525" y="2502375"/>
            <a:ext cx="27897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Карта ссылок</a:t>
            </a:r>
            <a:endParaRPr sz="1600"/>
          </a:p>
        </p:txBody>
      </p:sp>
      <p:sp>
        <p:nvSpPr>
          <p:cNvPr id="444" name="Google Shape;444;p57"/>
          <p:cNvSpPr txBox="1"/>
          <p:nvPr/>
        </p:nvSpPr>
        <p:spPr>
          <a:xfrm>
            <a:off x="3370225" y="3607525"/>
            <a:ext cx="27897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Аналитика форм</a:t>
            </a:r>
            <a:endParaRPr sz="1600"/>
          </a:p>
        </p:txBody>
      </p:sp>
      <p:pic>
        <p:nvPicPr>
          <p:cNvPr id="445" name="Google Shape;44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650" y="3349725"/>
            <a:ext cx="1189176" cy="6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2697" y="2018075"/>
            <a:ext cx="393049" cy="48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2451" y="2099050"/>
            <a:ext cx="325500" cy="32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09850" y="2862275"/>
            <a:ext cx="487450" cy="48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94750" y="3990801"/>
            <a:ext cx="438502" cy="438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8"/>
          <p:cNvSpPr txBox="1">
            <a:spLocks noGrp="1"/>
          </p:cNvSpPr>
          <p:nvPr>
            <p:ph type="title"/>
          </p:nvPr>
        </p:nvSpPr>
        <p:spPr>
          <a:xfrm>
            <a:off x="842900" y="4272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показатели в веб-аналитике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58"/>
          <p:cNvSpPr txBox="1">
            <a:spLocks noGrp="1"/>
          </p:cNvSpPr>
          <p:nvPr>
            <p:ph type="body" idx="1"/>
          </p:nvPr>
        </p:nvSpPr>
        <p:spPr>
          <a:xfrm>
            <a:off x="842900" y="16199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Показатель отказов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>
                <a:highlight>
                  <a:srgbClr val="FFE599"/>
                </a:highlight>
              </a:rPr>
              <a:t>Процент конверсии</a:t>
            </a:r>
            <a:endParaRPr>
              <a:highlight>
                <a:srgbClr val="FFE599"/>
              </a:highlight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>
                <a:highlight>
                  <a:srgbClr val="FFE599"/>
                </a:highlight>
              </a:rPr>
              <a:t>Стоимость конверсии</a:t>
            </a:r>
            <a:endParaRPr>
              <a:highlight>
                <a:srgbClr val="FFE599"/>
              </a:highlight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Кол-во просмотренных страниц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Время на сайте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Расход по кампании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9"/>
          <p:cNvSpPr txBox="1">
            <a:spLocks noGrp="1"/>
          </p:cNvSpPr>
          <p:nvPr>
            <p:ph type="title"/>
          </p:nvPr>
        </p:nvSpPr>
        <p:spPr>
          <a:xfrm>
            <a:off x="842925" y="2228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UTM - метки</a:t>
            </a:r>
            <a:endParaRPr/>
          </a:p>
        </p:txBody>
      </p:sp>
      <p:sp>
        <p:nvSpPr>
          <p:cNvPr id="461" name="Google Shape;461;p59"/>
          <p:cNvSpPr txBox="1">
            <a:spLocks noGrp="1"/>
          </p:cNvSpPr>
          <p:nvPr>
            <p:ph type="body" idx="1"/>
          </p:nvPr>
        </p:nvSpPr>
        <p:spPr>
          <a:xfrm>
            <a:off x="819150" y="105425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Обязательные:</a:t>
            </a:r>
            <a:br>
              <a:rPr lang="ru"/>
            </a:br>
            <a:br>
              <a:rPr lang="ru"/>
            </a:br>
            <a:r>
              <a:rPr lang="ru"/>
              <a:t>utm_source - источник перехода</a:t>
            </a:r>
            <a:br>
              <a:rPr lang="ru"/>
            </a:br>
            <a:r>
              <a:rPr lang="ru"/>
              <a:t>utm_medium - тип трафика</a:t>
            </a:r>
            <a:br>
              <a:rPr lang="ru"/>
            </a:br>
            <a:r>
              <a:rPr lang="ru"/>
              <a:t>utm_campaign - название кампании</a:t>
            </a:r>
            <a:br>
              <a:rPr lang="ru"/>
            </a:br>
            <a:br>
              <a:rPr lang="ru"/>
            </a:br>
            <a:br>
              <a:rPr lang="ru"/>
            </a:br>
            <a:r>
              <a:rPr lang="ru"/>
              <a:t>Необязательные:</a:t>
            </a:r>
            <a:br>
              <a:rPr lang="ru"/>
            </a:br>
            <a:r>
              <a:rPr lang="ru"/>
              <a:t>utm_content - дополнительная информация, которая помогает различать объявления</a:t>
            </a:r>
            <a:br>
              <a:rPr lang="ru"/>
            </a:br>
            <a:r>
              <a:rPr lang="ru"/>
              <a:t>utm_term - ключевая фраза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050">
              <a:solidFill>
                <a:srgbClr val="333333"/>
              </a:solidFill>
              <a:highlight>
                <a:srgbClr val="FCFD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050">
              <a:solidFill>
                <a:srgbClr val="333333"/>
              </a:solidFill>
              <a:highlight>
                <a:srgbClr val="FCFD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0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Также есть динамические параметры и у каждой рекламной системы они разные.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60"/>
          <p:cNvSpPr txBox="1">
            <a:spLocks noGrp="1"/>
          </p:cNvSpPr>
          <p:nvPr>
            <p:ph type="body" idx="1"/>
          </p:nvPr>
        </p:nvSpPr>
        <p:spPr>
          <a:xfrm>
            <a:off x="819150" y="151535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Самые популярные:</a:t>
            </a:r>
            <a:br>
              <a:rPr lang="ru"/>
            </a:br>
            <a:br>
              <a:rPr lang="ru"/>
            </a:br>
            <a:r>
              <a:rPr lang="ru" sz="1050">
                <a:solidFill>
                  <a:srgbClr val="333333"/>
                </a:solidFill>
                <a:highlight>
                  <a:srgbClr val="FCFDFF"/>
                </a:highlight>
                <a:latin typeface="Arial"/>
                <a:ea typeface="Arial"/>
                <a:cs typeface="Arial"/>
                <a:sym typeface="Arial"/>
              </a:rPr>
              <a:t>{campaignid} - название кампании </a:t>
            </a:r>
            <a:br>
              <a:rPr lang="ru" sz="1050">
                <a:solidFill>
                  <a:srgbClr val="333333"/>
                </a:solidFill>
                <a:highlight>
                  <a:srgbClr val="FCFD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ru" sz="1050">
                <a:solidFill>
                  <a:srgbClr val="333333"/>
                </a:solidFill>
                <a:highlight>
                  <a:srgbClr val="FCFDFF"/>
                </a:highlight>
                <a:latin typeface="Arial"/>
                <a:ea typeface="Arial"/>
                <a:cs typeface="Arial"/>
                <a:sym typeface="Arial"/>
              </a:rPr>
              <a:t>{adgroupid} - номер группы</a:t>
            </a:r>
            <a:br>
              <a:rPr lang="ru" sz="1050">
                <a:solidFill>
                  <a:srgbClr val="333333"/>
                </a:solidFill>
                <a:highlight>
                  <a:srgbClr val="FCFD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ru" sz="1050">
                <a:solidFill>
                  <a:srgbClr val="333333"/>
                </a:solidFill>
                <a:highlight>
                  <a:srgbClr val="FCFDFF"/>
                </a:highlight>
                <a:latin typeface="Arial"/>
                <a:ea typeface="Arial"/>
                <a:cs typeface="Arial"/>
                <a:sym typeface="Arial"/>
              </a:rPr>
              <a:t>{device} - устройство </a:t>
            </a:r>
            <a:br>
              <a:rPr lang="ru" sz="1050">
                <a:solidFill>
                  <a:srgbClr val="333333"/>
                </a:solidFill>
                <a:highlight>
                  <a:srgbClr val="FCFD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ru" sz="1050">
                <a:solidFill>
                  <a:srgbClr val="333333"/>
                </a:solidFill>
                <a:highlight>
                  <a:srgbClr val="FCFDFF"/>
                </a:highlight>
                <a:latin typeface="Arial"/>
                <a:ea typeface="Arial"/>
                <a:cs typeface="Arial"/>
                <a:sym typeface="Arial"/>
              </a:rPr>
              <a:t>{keyword} - ключевая фраза, по которой было показано объявление (текстово-графическое или реклама мобильных приложений) без минус-слов;</a:t>
            </a:r>
            <a:br>
              <a:rPr lang="ru" sz="1050">
                <a:solidFill>
                  <a:srgbClr val="333333"/>
                </a:solidFill>
                <a:highlight>
                  <a:srgbClr val="FCFD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ru" sz="1050">
                <a:solidFill>
                  <a:srgbClr val="333333"/>
                </a:solidFill>
                <a:highlight>
                  <a:srgbClr val="FCFDFF"/>
                </a:highlight>
                <a:latin typeface="Arial"/>
                <a:ea typeface="Arial"/>
                <a:cs typeface="Arial"/>
                <a:sym typeface="Arial"/>
              </a:rPr>
              <a:t>{placement} - сайт, на котором пользователь нажал на ваше объявление. Он соответствует заданным вами ключевым словам или условиям таргетинга на места размещения (в зависимости от настроек таргетинга в кампании);</a:t>
            </a:r>
            <a:br>
              <a:rPr lang="ru" sz="1050">
                <a:solidFill>
                  <a:srgbClr val="333333"/>
                </a:solidFill>
                <a:highlight>
                  <a:srgbClr val="FCFD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ru" sz="1050">
                <a:solidFill>
                  <a:srgbClr val="333333"/>
                </a:solidFill>
                <a:highlight>
                  <a:srgbClr val="FCFDFF"/>
                </a:highlight>
                <a:latin typeface="Arial"/>
                <a:ea typeface="Arial"/>
                <a:cs typeface="Arial"/>
                <a:sym typeface="Arial"/>
              </a:rPr>
              <a:t>{creative} - уникальный идентификатор объявления;</a:t>
            </a:r>
            <a:endParaRPr sz="1050">
              <a:solidFill>
                <a:srgbClr val="333333"/>
              </a:solidFill>
              <a:highlight>
                <a:srgbClr val="FCFD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br>
              <a:rPr lang="ru"/>
            </a:br>
            <a:br>
              <a:rPr lang="ru"/>
            </a:b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1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Если нет правильно настроенных целей, то нет и аналитики как таковой</a:t>
            </a:r>
            <a:endParaRPr/>
          </a:p>
        </p:txBody>
      </p:sp>
      <p:sp>
        <p:nvSpPr>
          <p:cNvPr id="473" name="Google Shape;473;p61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Показатель отказов, время на сайт, глубина - это все второстепенные показатели, которые показывают заинтересованность посетителей в той или иной степени, которая прямым образом никак не влияет на итоговый результат в виде заявок.</a:t>
            </a:r>
            <a:br>
              <a:rPr lang="ru"/>
            </a:br>
            <a:br>
              <a:rPr lang="ru"/>
            </a:br>
            <a:r>
              <a:rPr lang="ru"/>
              <a:t>В свою очередь заявки должны приводить к продажам.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2"/>
          <p:cNvSpPr txBox="1">
            <a:spLocks noGrp="1"/>
          </p:cNvSpPr>
          <p:nvPr>
            <p:ph type="title"/>
          </p:nvPr>
        </p:nvSpPr>
        <p:spPr>
          <a:xfrm>
            <a:off x="800125" y="3322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 целей в Метрике</a:t>
            </a:r>
            <a:endParaRPr/>
          </a:p>
        </p:txBody>
      </p:sp>
      <p:sp>
        <p:nvSpPr>
          <p:cNvPr id="479" name="Google Shape;479;p62"/>
          <p:cNvSpPr txBox="1">
            <a:spLocks noGrp="1"/>
          </p:cNvSpPr>
          <p:nvPr>
            <p:ph type="body" idx="1"/>
          </p:nvPr>
        </p:nvSpPr>
        <p:spPr>
          <a:xfrm>
            <a:off x="724050" y="123487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 sz="1400"/>
              <a:t>4 типа целей:</a:t>
            </a:r>
            <a:br>
              <a:rPr lang="ru" sz="1400"/>
            </a:br>
            <a:br>
              <a:rPr lang="ru" sz="1400"/>
            </a:br>
            <a:r>
              <a:rPr lang="ru" sz="1400"/>
              <a:t>- Количество просмотренных страниц</a:t>
            </a:r>
            <a:r>
              <a:rPr lang="ru" sz="1000"/>
              <a:t> (используется в блогах и на информационных сайтах)</a:t>
            </a:r>
            <a:br>
              <a:rPr lang="ru" sz="1000"/>
            </a:br>
            <a:r>
              <a:rPr lang="ru" sz="1400"/>
              <a:t>- Посещение страниц </a:t>
            </a:r>
            <a:r>
              <a:rPr lang="ru" sz="1000"/>
              <a:t>(используется для страниц контакты и фиксации заявок при наличии страницы спасибо)</a:t>
            </a:r>
            <a:br>
              <a:rPr lang="ru" sz="1400"/>
            </a:br>
            <a:r>
              <a:rPr lang="ru" sz="1400"/>
              <a:t>- JavaScript событие </a:t>
            </a:r>
            <a:r>
              <a:rPr lang="ru" sz="1000"/>
              <a:t>(более сложное событие, обычно положили товар в корзину, оформили заказ в интернет-магазине, заказали обратный звонок и т.п.)</a:t>
            </a:r>
            <a:br>
              <a:rPr lang="ru" sz="1400"/>
            </a:br>
            <a:r>
              <a:rPr lang="ru" sz="1400"/>
              <a:t>- Составная цель </a:t>
            </a:r>
            <a:r>
              <a:rPr lang="ru" sz="1000"/>
              <a:t>(зачастую используется в интернет-магазинах, чтобы узнать на каком этапе при оформлении заказа отваливается посетитель)</a:t>
            </a:r>
            <a:endParaRPr sz="1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3"/>
          <p:cNvSpPr txBox="1">
            <a:spLocks noGrp="1"/>
          </p:cNvSpPr>
          <p:nvPr>
            <p:ph type="title"/>
          </p:nvPr>
        </p:nvSpPr>
        <p:spPr>
          <a:xfrm>
            <a:off x="819150" y="3464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отчеты в Метрике</a:t>
            </a:r>
            <a:endParaRPr/>
          </a:p>
        </p:txBody>
      </p:sp>
      <p:sp>
        <p:nvSpPr>
          <p:cNvPr id="485" name="Google Shape;485;p63"/>
          <p:cNvSpPr txBox="1">
            <a:spLocks noGrp="1"/>
          </p:cNvSpPr>
          <p:nvPr>
            <p:ph type="body" idx="1"/>
          </p:nvPr>
        </p:nvSpPr>
        <p:spPr>
          <a:xfrm>
            <a:off x="781125" y="134775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Директ,сводка - анализируем рекламные кампании в Директе.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Директ,расходы - тоже самое, что и выше, только добавляется показатель расходов. Больше этого показателя нет нигде.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Директ, площадки - позволяет оценить эффективность рекламных площадок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Метки, UTM - позволяет отслеживать с каких источников пришел трафик и что он делал на нашем сайте.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Браузеры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Устройства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Посещаемость по времени суток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Электронная коммерция - для интернет-магазинов.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4"/>
          <p:cNvSpPr txBox="1">
            <a:spLocks noGrp="1"/>
          </p:cNvSpPr>
          <p:nvPr>
            <p:ph type="title"/>
          </p:nvPr>
        </p:nvSpPr>
        <p:spPr>
          <a:xfrm>
            <a:off x="819150" y="37022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Тонкости в веб-аналитике</a:t>
            </a:r>
            <a:endParaRPr/>
          </a:p>
        </p:txBody>
      </p:sp>
      <p:sp>
        <p:nvSpPr>
          <p:cNvPr id="491" name="Google Shape;491;p64"/>
          <p:cNvSpPr txBox="1">
            <a:spLocks noGrp="1"/>
          </p:cNvSpPr>
          <p:nvPr>
            <p:ph type="body" idx="1"/>
          </p:nvPr>
        </p:nvSpPr>
        <p:spPr>
          <a:xfrm>
            <a:off x="747850" y="1377500"/>
            <a:ext cx="8027400" cy="3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Резко упало количество заявок</a:t>
            </a:r>
            <a:br>
              <a:rPr lang="ru"/>
            </a:br>
            <a:r>
              <a:rPr lang="ru" sz="900"/>
              <a:t>- Посмотрите на сезонность</a:t>
            </a:r>
            <a:br>
              <a:rPr lang="ru" sz="900"/>
            </a:br>
            <a:r>
              <a:rPr lang="ru" sz="900"/>
              <a:t>- Проверьте конкурентов, возможно они обновили свои УТП на сайте или появились новые конкуренты</a:t>
            </a:r>
            <a:br>
              <a:rPr lang="ru" sz="900"/>
            </a:br>
            <a:r>
              <a:rPr lang="ru" sz="900"/>
              <a:t>- Проверьте отображаемость сайта, возможно вносили изменения в сайт и поехала верстка</a:t>
            </a:r>
            <a:br>
              <a:rPr lang="ru" sz="900"/>
            </a:br>
            <a:r>
              <a:rPr lang="ru" sz="900"/>
              <a:t>- Проанализируйте рекламные кампании на наличие скликивания</a:t>
            </a:r>
            <a:br>
              <a:rPr lang="ru" sz="900"/>
            </a:br>
            <a:r>
              <a:rPr lang="ru" sz="900"/>
              <a:t>- Политические события</a:t>
            </a:r>
            <a:br>
              <a:rPr lang="ru" sz="900"/>
            </a:br>
            <a:r>
              <a:rPr lang="ru" sz="900"/>
              <a:t>- Платежеспособность людей (зарплаты)</a:t>
            </a:r>
            <a:br>
              <a:rPr lang="ru" sz="900"/>
            </a:br>
            <a:r>
              <a:rPr lang="ru" sz="900"/>
              <a:t>- Погода</a:t>
            </a:r>
            <a:br>
              <a:rPr lang="ru" sz="900"/>
            </a:br>
            <a:endParaRPr sz="9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Увеличилась стоимость заявки</a:t>
            </a:r>
            <a:br>
              <a:rPr lang="ru"/>
            </a:br>
            <a:r>
              <a:rPr lang="ru" sz="900"/>
              <a:t>- Внимательно проанализируйте рекламные кампании в различных разрезах пол/возраст/устройство/время суток/гео/площадки/условия показа</a:t>
            </a:r>
            <a:br>
              <a:rPr lang="ru" sz="900"/>
            </a:br>
            <a:r>
              <a:rPr lang="ru" sz="900"/>
              <a:t>- Опять же, смотрим на конкурентов, что они предлагают на сайтах</a:t>
            </a:r>
            <a:br>
              <a:rPr lang="ru" sz="900"/>
            </a:br>
            <a:r>
              <a:rPr lang="ru" sz="900"/>
              <a:t>- Проверяем сайт на наличие багов</a:t>
            </a:r>
            <a:br>
              <a:rPr lang="ru" sz="900"/>
            </a:br>
            <a:r>
              <a:rPr lang="ru" sz="900"/>
              <a:t>- Проверяем наши рекламные объявления на наличие битых ссылок</a:t>
            </a:r>
            <a:br>
              <a:rPr lang="ru" sz="900"/>
            </a:br>
            <a:r>
              <a:rPr lang="ru" sz="900"/>
              <a:t>- Смотрим на креативы конкурентов</a:t>
            </a:r>
            <a:br>
              <a:rPr lang="ru" sz="900"/>
            </a:br>
            <a:r>
              <a:rPr lang="ru" sz="900"/>
              <a:t>- Сравниваем CTR с периодом, когда все было хорошо</a:t>
            </a:r>
            <a:br>
              <a:rPr lang="ru" sz="900"/>
            </a:b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5"/>
          <p:cNvSpPr txBox="1">
            <a:spLocks noGrp="1"/>
          </p:cNvSpPr>
          <p:nvPr>
            <p:ph type="title"/>
          </p:nvPr>
        </p:nvSpPr>
        <p:spPr>
          <a:xfrm>
            <a:off x="819150" y="37022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Тонкости в веб-аналитике</a:t>
            </a:r>
            <a:endParaRPr/>
          </a:p>
        </p:txBody>
      </p:sp>
      <p:sp>
        <p:nvSpPr>
          <p:cNvPr id="497" name="Google Shape;497;p65"/>
          <p:cNvSpPr txBox="1">
            <a:spLocks noGrp="1"/>
          </p:cNvSpPr>
          <p:nvPr>
            <p:ph type="body" idx="1"/>
          </p:nvPr>
        </p:nvSpPr>
        <p:spPr>
          <a:xfrm>
            <a:off x="747850" y="1377500"/>
            <a:ext cx="8027400" cy="3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3.</a:t>
            </a:r>
            <a:r>
              <a:rPr lang="ru" sz="900"/>
              <a:t> </a:t>
            </a:r>
            <a:r>
              <a:rPr lang="ru"/>
              <a:t>Запустили рекламу, а заявок нету вообще</a:t>
            </a:r>
            <a:endParaRPr/>
          </a:p>
          <a:p>
            <a:pPr marL="457200" lvl="0" indent="-285750" algn="l" rtl="0">
              <a:spcBef>
                <a:spcPts val="1600"/>
              </a:spcBef>
              <a:spcAft>
                <a:spcPts val="0"/>
              </a:spcAft>
              <a:buSzPts val="900"/>
              <a:buChar char="-"/>
            </a:pPr>
            <a:r>
              <a:rPr lang="ru" sz="900"/>
              <a:t>Начинаем всегда с анализа конкурентов</a:t>
            </a:r>
            <a:endParaRPr sz="900"/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ru" sz="900"/>
              <a:t>Оценить качество трафика, который идет на сайт</a:t>
            </a:r>
            <a:endParaRPr sz="900"/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ru" sz="900"/>
              <a:t>Посмотреть на свои объявления, понять какую аудиторию привлекает данное объявление</a:t>
            </a:r>
            <a:endParaRPr sz="900"/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ru" sz="900"/>
              <a:t>Посмотреть как отображается сайт на различных устройствах</a:t>
            </a:r>
            <a:endParaRPr sz="900"/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lang="ru" sz="900"/>
              <a:t>Посмотреть площадки, на которых идут показы</a:t>
            </a:r>
            <a:endParaRPr sz="9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6"/>
          <p:cNvSpPr txBox="1">
            <a:spLocks noGrp="1"/>
          </p:cNvSpPr>
          <p:nvPr>
            <p:ph type="title"/>
          </p:nvPr>
        </p:nvSpPr>
        <p:spPr>
          <a:xfrm>
            <a:off x="819150" y="4558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работать с данными?</a:t>
            </a:r>
            <a:endParaRPr/>
          </a:p>
        </p:txBody>
      </p:sp>
      <p:sp>
        <p:nvSpPr>
          <p:cNvPr id="503" name="Google Shape;503;p66"/>
          <p:cNvSpPr txBox="1">
            <a:spLocks noGrp="1"/>
          </p:cNvSpPr>
          <p:nvPr>
            <p:ph type="body" idx="1"/>
          </p:nvPr>
        </p:nvSpPr>
        <p:spPr>
          <a:xfrm>
            <a:off x="819150" y="141040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Имеет смысл проводить первичную оптимизацию при достижении минимум 500 кликов, раньше нет смысла.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Самый важный показатель на который мы равняемся - стоимость конверсии. Если есть сквозная аналитика, то стоимость продажи.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Если кампания работает хорошо, то ее лучше не трогать.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Если площадка/креатив/условие показа открутило 3 стоимости конверсии и не дало ни одной заявки, отключаем.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Делаем все изменения только на основе статистических данных. Полностью исключаем интуицию.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7"/>
          <p:cNvSpPr txBox="1">
            <a:spLocks noGrp="1"/>
          </p:cNvSpPr>
          <p:nvPr>
            <p:ph type="title"/>
          </p:nvPr>
        </p:nvSpPr>
        <p:spPr>
          <a:xfrm>
            <a:off x="800125" y="5223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Помните!</a:t>
            </a:r>
            <a:endParaRPr/>
          </a:p>
        </p:txBody>
      </p:sp>
      <p:sp>
        <p:nvSpPr>
          <p:cNvPr id="509" name="Google Shape;509;p67"/>
          <p:cNvSpPr txBox="1">
            <a:spLocks noGrp="1"/>
          </p:cNvSpPr>
          <p:nvPr>
            <p:ph type="body" idx="1"/>
          </p:nvPr>
        </p:nvSpPr>
        <p:spPr>
          <a:xfrm>
            <a:off x="800125" y="161517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>
                <a:highlight>
                  <a:srgbClr val="FFF2CC"/>
                </a:highlight>
              </a:rPr>
              <a:t>Процесс оптимизации рекламных кампаний - вечен</a:t>
            </a:r>
            <a:br>
              <a:rPr lang="ru"/>
            </a:br>
            <a:br>
              <a:rPr lang="ru"/>
            </a:br>
            <a:r>
              <a:rPr lang="ru"/>
              <a:t>Всегда будет что улучшить, изменить, протестировать.</a:t>
            </a:r>
            <a:br>
              <a:rPr lang="ru"/>
            </a:br>
            <a:br>
              <a:rPr lang="ru"/>
            </a:br>
            <a:r>
              <a:rPr lang="ru"/>
              <a:t>Каждый год появляются новые маркетинговые инструменты, виды таргетинга. Внедрив которые, старые кампании, которые ранее были отключены, могут заработать лучше новых, это всегда стоит держать в голове.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8"/>
          <p:cNvSpPr txBox="1">
            <a:spLocks noGrp="1"/>
          </p:cNvSpPr>
          <p:nvPr>
            <p:ph type="title"/>
          </p:nvPr>
        </p:nvSpPr>
        <p:spPr>
          <a:xfrm>
            <a:off x="819150" y="5318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Яндекс.Аудитории</a:t>
            </a:r>
            <a:endParaRPr/>
          </a:p>
        </p:txBody>
      </p:sp>
      <p:sp>
        <p:nvSpPr>
          <p:cNvPr id="515" name="Google Shape;515;p68"/>
          <p:cNvSpPr txBox="1">
            <a:spLocks noGrp="1"/>
          </p:cNvSpPr>
          <p:nvPr>
            <p:ph type="body" idx="1"/>
          </p:nvPr>
        </p:nvSpPr>
        <p:spPr>
          <a:xfrm>
            <a:off x="819150" y="152485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Какие бывают аудитории:</a:t>
            </a:r>
            <a:endParaRPr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Данные из CRM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ID мобильных устройств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На основе сегментов Яндекс.Метрики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App Метрика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На основе геолокации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Пиксель Я.Аудиторий (Бета тест)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DMP аудитории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А также можно желать похожие сегменты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9"/>
          <p:cNvSpPr txBox="1">
            <a:spLocks noGrp="1"/>
          </p:cNvSpPr>
          <p:nvPr>
            <p:ph type="title"/>
          </p:nvPr>
        </p:nvSpPr>
        <p:spPr>
          <a:xfrm>
            <a:off x="262550" y="2353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День - 2</a:t>
            </a:r>
            <a:endParaRPr sz="2400"/>
          </a:p>
        </p:txBody>
      </p:sp>
      <p:sp>
        <p:nvSpPr>
          <p:cNvPr id="521" name="Google Shape;521;p69"/>
          <p:cNvSpPr txBox="1">
            <a:spLocks noGrp="1"/>
          </p:cNvSpPr>
          <p:nvPr>
            <p:ph type="body" idx="1"/>
          </p:nvPr>
        </p:nvSpPr>
        <p:spPr>
          <a:xfrm>
            <a:off x="336350" y="750925"/>
            <a:ext cx="58131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 sz="1600"/>
              <a:t>Настройка рекламных кампаний в РСЯ + создание квиза</a:t>
            </a:r>
            <a:endParaRPr sz="1600"/>
          </a:p>
        </p:txBody>
      </p:sp>
      <p:pic>
        <p:nvPicPr>
          <p:cNvPr id="522" name="Google Shape;52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500" y="1294900"/>
            <a:ext cx="5623761" cy="344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70"/>
          <p:cNvSpPr txBox="1">
            <a:spLocks noGrp="1"/>
          </p:cNvSpPr>
          <p:nvPr>
            <p:ph type="title"/>
          </p:nvPr>
        </p:nvSpPr>
        <p:spPr>
          <a:xfrm>
            <a:off x="819150" y="3844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Настройка рекламной кампании в РСЯ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70"/>
          <p:cNvSpPr txBox="1">
            <a:spLocks noGrp="1"/>
          </p:cNvSpPr>
          <p:nvPr>
            <p:ph type="body" idx="1"/>
          </p:nvPr>
        </p:nvSpPr>
        <p:spPr>
          <a:xfrm>
            <a:off x="990275" y="1867125"/>
            <a:ext cx="2018700" cy="4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Через интерфейс Директа</a:t>
            </a:r>
            <a:endParaRPr/>
          </a:p>
        </p:txBody>
      </p:sp>
      <p:sp>
        <p:nvSpPr>
          <p:cNvPr id="529" name="Google Shape;529;p70"/>
          <p:cNvSpPr txBox="1">
            <a:spLocks noGrp="1"/>
          </p:cNvSpPr>
          <p:nvPr>
            <p:ph type="body" idx="1"/>
          </p:nvPr>
        </p:nvSpPr>
        <p:spPr>
          <a:xfrm>
            <a:off x="5554100" y="1867125"/>
            <a:ext cx="2018700" cy="4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Direct Commander</a:t>
            </a:r>
            <a:endParaRPr/>
          </a:p>
        </p:txBody>
      </p:sp>
      <p:pic>
        <p:nvPicPr>
          <p:cNvPr id="530" name="Google Shape;53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100" y="2457675"/>
            <a:ext cx="3665773" cy="169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4949" y="2457675"/>
            <a:ext cx="3328650" cy="182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1"/>
          <p:cNvSpPr txBox="1">
            <a:spLocks noGrp="1"/>
          </p:cNvSpPr>
          <p:nvPr>
            <p:ph type="title"/>
          </p:nvPr>
        </p:nvSpPr>
        <p:spPr>
          <a:xfrm>
            <a:off x="819150" y="5413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Стратегии назначения ставок в РСЯ</a:t>
            </a:r>
            <a:endParaRPr/>
          </a:p>
        </p:txBody>
      </p:sp>
      <p:sp>
        <p:nvSpPr>
          <p:cNvPr id="537" name="Google Shape;537;p71"/>
          <p:cNvSpPr txBox="1">
            <a:spLocks noGrp="1"/>
          </p:cNvSpPr>
          <p:nvPr>
            <p:ph type="body" idx="1"/>
          </p:nvPr>
        </p:nvSpPr>
        <p:spPr>
          <a:xfrm>
            <a:off x="377050" y="1962200"/>
            <a:ext cx="3944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Ручное управление ставками с оптимизацией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Оптимизация кликов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Оптимизация конверсий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Оптимизация рентабельности</a:t>
            </a:r>
            <a:endParaRPr/>
          </a:p>
        </p:txBody>
      </p:sp>
      <p:pic>
        <p:nvPicPr>
          <p:cNvPr id="538" name="Google Shape;53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875" y="1136150"/>
            <a:ext cx="4149700" cy="3608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2"/>
          <p:cNvSpPr txBox="1">
            <a:spLocks noGrp="1"/>
          </p:cNvSpPr>
          <p:nvPr>
            <p:ph type="title"/>
          </p:nvPr>
        </p:nvSpPr>
        <p:spPr>
          <a:xfrm>
            <a:off x="819150" y="4463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Типы объявлений в РСЯ</a:t>
            </a:r>
            <a:endParaRPr/>
          </a:p>
        </p:txBody>
      </p:sp>
      <p:sp>
        <p:nvSpPr>
          <p:cNvPr id="544" name="Google Shape;544;p72"/>
          <p:cNvSpPr txBox="1">
            <a:spLocks noGrp="1"/>
          </p:cNvSpPr>
          <p:nvPr>
            <p:ph type="body" idx="1"/>
          </p:nvPr>
        </p:nvSpPr>
        <p:spPr>
          <a:xfrm>
            <a:off x="1403850" y="1287225"/>
            <a:ext cx="2338200" cy="38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Текстово-графическое</a:t>
            </a:r>
            <a:endParaRPr/>
          </a:p>
        </p:txBody>
      </p:sp>
      <p:sp>
        <p:nvSpPr>
          <p:cNvPr id="545" name="Google Shape;545;p72"/>
          <p:cNvSpPr txBox="1">
            <a:spLocks noGrp="1"/>
          </p:cNvSpPr>
          <p:nvPr>
            <p:ph type="body" idx="1"/>
          </p:nvPr>
        </p:nvSpPr>
        <p:spPr>
          <a:xfrm>
            <a:off x="5856950" y="1349050"/>
            <a:ext cx="1757400" cy="38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Графическое</a:t>
            </a:r>
            <a:endParaRPr/>
          </a:p>
        </p:txBody>
      </p:sp>
      <p:sp>
        <p:nvSpPr>
          <p:cNvPr id="546" name="Google Shape;546;p72"/>
          <p:cNvSpPr txBox="1">
            <a:spLocks noGrp="1"/>
          </p:cNvSpPr>
          <p:nvPr>
            <p:ph type="body" idx="1"/>
          </p:nvPr>
        </p:nvSpPr>
        <p:spPr>
          <a:xfrm>
            <a:off x="1403850" y="4096600"/>
            <a:ext cx="1757400" cy="38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Мобильное</a:t>
            </a:r>
            <a:endParaRPr/>
          </a:p>
        </p:txBody>
      </p:sp>
      <p:sp>
        <p:nvSpPr>
          <p:cNvPr id="547" name="Google Shape;547;p72"/>
          <p:cNvSpPr txBox="1">
            <a:spLocks noGrp="1"/>
          </p:cNvSpPr>
          <p:nvPr>
            <p:ph type="body" idx="1"/>
          </p:nvPr>
        </p:nvSpPr>
        <p:spPr>
          <a:xfrm>
            <a:off x="6042950" y="3958750"/>
            <a:ext cx="1757400" cy="38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Видео</a:t>
            </a:r>
            <a:endParaRPr/>
          </a:p>
        </p:txBody>
      </p:sp>
      <p:pic>
        <p:nvPicPr>
          <p:cNvPr id="548" name="Google Shape;54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179" y="1806404"/>
            <a:ext cx="3180525" cy="197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0799" y="1868888"/>
            <a:ext cx="2467900" cy="1850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3"/>
          <p:cNvSpPr txBox="1">
            <a:spLocks noGrp="1"/>
          </p:cNvSpPr>
          <p:nvPr>
            <p:ph type="title"/>
          </p:nvPr>
        </p:nvSpPr>
        <p:spPr>
          <a:xfrm>
            <a:off x="819150" y="6411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Правила работы с объявлениями в РСЯ</a:t>
            </a:r>
            <a:endParaRPr/>
          </a:p>
        </p:txBody>
      </p:sp>
      <p:sp>
        <p:nvSpPr>
          <p:cNvPr id="555" name="Google Shape;555;p73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Тестируйте несколько вариантов объявлений одновременно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Объявление служит фильтром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Посмотрите какие объявления крутят Ваши конкуренты и сделайте в точности наоборот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Задача объявления - заполучить внимание пользователя и отфильтровать ненужный трафик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Делайте широкоформатные и стандартные объявления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На старте используем только текстово-графические объявления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Делайте сразу несколько объявлений на каждую группу, в идеале 4-5 шт.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74"/>
          <p:cNvSpPr txBox="1">
            <a:spLocks noGrp="1"/>
          </p:cNvSpPr>
          <p:nvPr>
            <p:ph type="title"/>
          </p:nvPr>
        </p:nvSpPr>
        <p:spPr>
          <a:xfrm>
            <a:off x="671625" y="2890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Основные рекомендации к изображениям в РСЯ</a:t>
            </a:r>
            <a:endParaRPr sz="2400"/>
          </a:p>
        </p:txBody>
      </p:sp>
      <p:sp>
        <p:nvSpPr>
          <p:cNvPr id="561" name="Google Shape;561;p74"/>
          <p:cNvSpPr txBox="1">
            <a:spLocks noGrp="1"/>
          </p:cNvSpPr>
          <p:nvPr>
            <p:ph type="body" idx="1"/>
          </p:nvPr>
        </p:nvSpPr>
        <p:spPr>
          <a:xfrm>
            <a:off x="765500" y="8641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Текстово-графические объявления бывают стандартные 600х600 пикселей и широкоформатные 1080х607 пикселей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На изображении четко виден объект рекламирования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На изображении отсутствует контактная информация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Нельзя использовать продукты или символику конкурентов рекламодателя (например, для сравнения качества товаров)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ru"/>
              <a:t>Текст, логотипы или водяные знаки не должны занимать более 20% места изображения</a:t>
            </a:r>
            <a:endParaRPr/>
          </a:p>
        </p:txBody>
      </p:sp>
      <p:sp>
        <p:nvSpPr>
          <p:cNvPr id="562" name="Google Shape;562;p74"/>
          <p:cNvSpPr txBox="1"/>
          <p:nvPr/>
        </p:nvSpPr>
        <p:spPr>
          <a:xfrm>
            <a:off x="1146725" y="2883575"/>
            <a:ext cx="1770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latin typeface="Calibri"/>
                <a:ea typeface="Calibri"/>
                <a:cs typeface="Calibri"/>
                <a:sym typeface="Calibri"/>
              </a:rPr>
              <a:t>Стандартное изображение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74"/>
          <p:cNvSpPr txBox="1"/>
          <p:nvPr/>
        </p:nvSpPr>
        <p:spPr>
          <a:xfrm>
            <a:off x="5564150" y="2883575"/>
            <a:ext cx="1770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latin typeface="Calibri"/>
                <a:ea typeface="Calibri"/>
                <a:cs typeface="Calibri"/>
                <a:sym typeface="Calibri"/>
              </a:rPr>
              <a:t>Широкоформатное изображение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4" name="Google Shape;56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625" y="3261075"/>
            <a:ext cx="1473375" cy="147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3025" y="3151631"/>
            <a:ext cx="3010999" cy="169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5"/>
          <p:cNvSpPr txBox="1">
            <a:spLocks noGrp="1"/>
          </p:cNvSpPr>
          <p:nvPr>
            <p:ph type="title"/>
          </p:nvPr>
        </p:nvSpPr>
        <p:spPr>
          <a:xfrm>
            <a:off x="819150" y="4700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подбирать ключевые фразы в РСЯ</a:t>
            </a:r>
            <a:endParaRPr/>
          </a:p>
        </p:txBody>
      </p:sp>
      <p:sp>
        <p:nvSpPr>
          <p:cNvPr id="571" name="Google Shape;571;p75"/>
          <p:cNvSpPr txBox="1">
            <a:spLocks noGrp="1"/>
          </p:cNvSpPr>
          <p:nvPr>
            <p:ph type="body" idx="1"/>
          </p:nvPr>
        </p:nvSpPr>
        <p:spPr>
          <a:xfrm>
            <a:off x="819150" y="174827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Скачиваем дополнение браузера - yandex wordstat assistant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Переходим по ссылке wordstat.yandex.ru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Указываем нужный нам регион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Вбиваем ключевые слова связанные с нашей нишей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Берем только высокочастотные и среднечастотные ключевики из левой колонки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Внимательно смотрим на правую колонку и ищем там дополнительные идеи для увеличения охвата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6"/>
          <p:cNvSpPr txBox="1">
            <a:spLocks noGrp="1"/>
          </p:cNvSpPr>
          <p:nvPr>
            <p:ph type="title"/>
          </p:nvPr>
        </p:nvSpPr>
        <p:spPr>
          <a:xfrm>
            <a:off x="2542600" y="2094450"/>
            <a:ext cx="39288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Практическая часть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3591</Words>
  <Application>Microsoft Office PowerPoint</Application>
  <PresentationFormat>Экран (16:9)</PresentationFormat>
  <Paragraphs>292</Paragraphs>
  <Slides>61</Slides>
  <Notes>61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61</vt:i4>
      </vt:variant>
    </vt:vector>
  </HeadingPairs>
  <TitlesOfParts>
    <vt:vector size="66" baseType="lpstr">
      <vt:lpstr>Nunito</vt:lpstr>
      <vt:lpstr>Arial</vt:lpstr>
      <vt:lpstr>Trebuchet MS</vt:lpstr>
      <vt:lpstr>Calibri</vt:lpstr>
      <vt:lpstr>Shift</vt:lpstr>
      <vt:lpstr>Контекстная реклама</vt:lpstr>
      <vt:lpstr>Основные термины</vt:lpstr>
      <vt:lpstr>Что такое контекстная реклама</vt:lpstr>
      <vt:lpstr>Презентация PowerPoint</vt:lpstr>
      <vt:lpstr>Какие задачи можно решить с помощью контекстной рекламы?</vt:lpstr>
      <vt:lpstr>Как работает контекстная реклама?</vt:lpstr>
      <vt:lpstr>Презентация PowerPoint</vt:lpstr>
      <vt:lpstr>Виды рекламных кампаний в Яндекс Директ</vt:lpstr>
      <vt:lpstr>Основные типы таргетингов в Яндекс Директ</vt:lpstr>
      <vt:lpstr>Модели оплаты рекламы в Яндекс Директ</vt:lpstr>
      <vt:lpstr>Рекламные форматы в Яндекс Директ</vt:lpstr>
      <vt:lpstr>Главное правило в контекстной рекламе - релевантность!</vt:lpstr>
      <vt:lpstr>Преимущества и недостатки контекстной рекламы</vt:lpstr>
      <vt:lpstr>Основные отличия контекстной рекламы от таргетированной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Примеры</vt:lpstr>
      <vt:lpstr>Пример</vt:lpstr>
      <vt:lpstr>Пример</vt:lpstr>
      <vt:lpstr>Основные инструменты которые понадобятся для работы</vt:lpstr>
      <vt:lpstr>Основные сервисы которые  пригодятся в работе</vt:lpstr>
      <vt:lpstr>Основные отличия контекстной рекламы в Яндекс Директ &amp; Google Ads</vt:lpstr>
      <vt:lpstr>Презентация PowerPoint</vt:lpstr>
      <vt:lpstr>Расширения объявлений</vt:lpstr>
      <vt:lpstr>Приоритет минус-фраз</vt:lpstr>
      <vt:lpstr>Скрипты и правила</vt:lpstr>
      <vt:lpstr>Аудитория рекламных систем</vt:lpstr>
      <vt:lpstr>Стратегии назначения ставок</vt:lpstr>
      <vt:lpstr>Презентация PowerPoint</vt:lpstr>
      <vt:lpstr>Что же такое Яндекс Метрика</vt:lpstr>
      <vt:lpstr>Презентация PowerPoint</vt:lpstr>
      <vt:lpstr>Презентация PowerPoint</vt:lpstr>
      <vt:lpstr>Задачи которые можно решить с помощью веб-аналитики</vt:lpstr>
      <vt:lpstr>Что можно делать в Яндекс Метрике</vt:lpstr>
      <vt:lpstr>Подключение Яндекс Метрики к сайту</vt:lpstr>
      <vt:lpstr>Основные инструменты Яндекс Метрики</vt:lpstr>
      <vt:lpstr>Основные показатели в веб-аналитике </vt:lpstr>
      <vt:lpstr>UTM - метки</vt:lpstr>
      <vt:lpstr>Также есть динамические параметры и у каждой рекламной системы они разные. </vt:lpstr>
      <vt:lpstr>Если нет правильно настроенных целей, то нет и аналитики как таковой</vt:lpstr>
      <vt:lpstr>Создание целей в Метрике</vt:lpstr>
      <vt:lpstr>Основные отчеты в Метрике</vt:lpstr>
      <vt:lpstr>Тонкости в веб-аналитике</vt:lpstr>
      <vt:lpstr>Тонкости в веб-аналитике</vt:lpstr>
      <vt:lpstr>Как работать с данными?</vt:lpstr>
      <vt:lpstr>Помните!</vt:lpstr>
      <vt:lpstr>Яндекс.Аудитории</vt:lpstr>
      <vt:lpstr>День - 2</vt:lpstr>
      <vt:lpstr>Настройка рекламной кампании в РСЯ </vt:lpstr>
      <vt:lpstr>Стратегии назначения ставок в РСЯ</vt:lpstr>
      <vt:lpstr>Типы объявлений в РСЯ</vt:lpstr>
      <vt:lpstr>Правила работы с объявлениями в РСЯ</vt:lpstr>
      <vt:lpstr>Основные рекомендации к изображениям в РСЯ</vt:lpstr>
      <vt:lpstr>Как подбирать ключевые фразы в РСЯ</vt:lpstr>
      <vt:lpstr>Практическая часть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Контекстная реклама</dc:title>
  <cp:lastModifiedBy>fish</cp:lastModifiedBy>
  <cp:revision>3</cp:revision>
  <dcterms:modified xsi:type="dcterms:W3CDTF">2026-10-28T08:52:09Z</dcterms:modified>
</cp:coreProperties>
</file>