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1: Аудит доступности сайта. WCAG 2.2 и ГОСТ Р 52872-2019: как сделать сайт удобным для всех.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Начните с вопроса группе: кто пробовал пользоваться сайтом только с клавиатуры? Подведите к тому, что доступность — это не только про инвалидность, но и про удобство для всех.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Уровни: A — минимум, AA — рекомендуемый и требуемый стандартами, AAA — максимальный, выполняется выборочно.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WebAIM Contrast Checker или пипетку контраста в DevTools прямо на сайте студента.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w3.org/TR/WCAG22/" TargetMode="External"/><Relationship Id="rId3" Type="http://schemas.openxmlformats.org/officeDocument/2006/relationships/hyperlink" Target="https://www.w3.org/WAI/WCAG22/quickref/" TargetMode="External"/><Relationship Id="rId4" Type="http://schemas.openxmlformats.org/officeDocument/2006/relationships/hyperlink" Target="https://weblind.ru/" TargetMode="External"/><Relationship Id="rId5" Type="http://schemas.openxmlformats.org/officeDocument/2006/relationships/hyperlink" Target="https://web.dev/learn/accessibility?hl=ru" TargetMode="External"/><Relationship Id="rId6" Type="http://schemas.openxmlformats.org/officeDocument/2006/relationships/hyperlink" Target="https://webaim.org/resources/contrastchecker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Аудит доступности сайта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WCAG 2.2 и ГОСТ Р 52872-2019: как сделать сайт удобным для всех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1 · ЗАНЯТИЯ 1–3 · 21.10 И 28.10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Что такое доступность и зачем она нужна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Четыре принципа WCAG и уровни соответствия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Контраст, клавиатура, формы, изображения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Инструменты проверки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Практическая работа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1–3 · 21.10 и 28.10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Почему доступность — это важно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00796B"/>
                </a:solidFill>
              </a:rPr>
              <a:t>1,3 млрд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людей в мире живут с выраженной инвалидностью (ВОЗ)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5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8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D9563F"/>
                </a:solidFill>
              </a:rPr>
              <a:t>1 из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пользователей может столкнуться с барьерами на сайте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82639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5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C4A15A"/>
                </a:solidFill>
              </a:rPr>
              <a:t>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уровень WCAG, который требуют ГОСТ Р 52872-2019 и большинство стандартов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Доступность улучшает и SEO: поисковый робот «читает» страницу почти как экранный диктор.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Четыре принципа WCAG — POUR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P — Воспринимаемость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alt у изображений, субтитры к видео, достаточный контраст текста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O — Управляемость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всё работает с клавиатуры, виден фокус, хватает времени на действие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0322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6781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678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6781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U — Понятность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97579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указан язык страницы, предсказуемое поведение, понятные ошибки в формах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90322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30678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30678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306781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R — Надёжность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497579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валидный HTML, корректная работа с экранными дикторами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Контраст текста: нормы WCAG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66E"/>
                </a:solidFill>
              </a:rPr>
              <a:t>1:1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887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5666E"/>
                </a:solidFill>
              </a:rPr>
              <a:t>21:1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868680"/>
          </a:xfrm>
          <a:prstGeom prst="roundRect">
            <a:avLst>
              <a:gd name="adj" fmla="val 1263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&lt; 3:1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33A44"/>
                </a:solidFill>
              </a:rPr>
              <a:t>не проходит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463040"/>
            <a:ext cx="1828800" cy="868680"/>
          </a:xfrm>
          <a:prstGeom prst="roundRect">
            <a:avLst>
              <a:gd name="adj" fmla="val 12631"/>
            </a:avLst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46304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≥ 3:1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4688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33A44"/>
                </a:solidFill>
              </a:rPr>
              <a:t>AA для крупного текста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463040"/>
            <a:ext cx="1828800" cy="868680"/>
          </a:xfrm>
          <a:prstGeom prst="roundRect">
            <a:avLst>
              <a:gd name="adj" fmla="val 12631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6304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≥ 4,5:1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4688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33A44"/>
                </a:solidFill>
              </a:rPr>
              <a:t>AA для обычного текста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3" y="1463040"/>
            <a:ext cx="1828800" cy="868680"/>
          </a:xfrm>
          <a:prstGeom prst="roundRect">
            <a:avLst>
              <a:gd name="adj" fmla="val 12631"/>
            </a:avLst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1463040"/>
            <a:ext cx="18288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≥ 7:1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4688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233A44"/>
                </a:solidFill>
              </a:rPr>
              <a:t>AAA — высший уровень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Пример: #999999 на белом — 2,8:1 (не проходит); #595959 на белом — 7:1 (проходит AAA).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Чек-лист: что проверяем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772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30175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Элемент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Как правильно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Типичная ошибка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Изображения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осмысленный alt, у декоративных alt=""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alt нет или alt="картинка"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Формы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label for у каждого поля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подсказка только в placeholder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Клавиатура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всё доступно по Tab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меню только по наведению мыши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Фокус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виден :focus-visible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outline: none без замены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Заголовки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один h1, уровни по порядку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уровень выбран «по размеру»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Язык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&lt;html lang="ru"&gt;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атрибут lang отсутствует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Исправляем типовые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Описываем изображения атрибутом alt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Связываем подпись и поле через for и id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Подписываем кнопки-иконки aria-label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Скрываем декоративные SVG от дикторов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&lt;!-- было --&gt;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&lt;img src="book.jpg"&gt;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&lt;input placeholder="E-mail"&gt;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&lt;button&gt;&lt;svg&gt;…&lt;/svg&gt;&lt;/button&gt;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&lt;!-- стало --&gt;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&lt;img src="book.jpg" alt="Обложка книги"&gt;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&lt;label for="email"&gt;E-mail&lt;/label&gt;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&lt;input id="email" type="email"&gt;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&lt;button aria-label="Поиск"&gt;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&lt;svg aria-hidden="true"&gt;…&lt;/svg&gt;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&lt;/button&gt;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Инструменты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Lighthouse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F12 → Lighthouse → Accessibility. Оценка 0–100 и список проблем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WAVE и axe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расширения браузера: показывают ошибки на странице со ссылкой на критерий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7477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Contrast 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WebAIM: проверка пары цветов текста и фона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274777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NVDA / Экранный диктор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проверка сайта «ушами» незрячего пользователя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Автоматика находит лишь около трети проблем — клавиатуру и порядок фокуса проверяем вручную.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1: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5331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Подготовить объект аудита и изучить критерии доступности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848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Выполнить автоматизированную проверку (Lighthouse, WAVE / axe)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81635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Выполнить ручную проверку: клавиатура, контраст, масштаб, экранный диктор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13533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Составить сводный протокол аудита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2084832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Устранить нарушения в коде и проверить повторно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281635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Сформулировать рекомендации по доступности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уровень соответствия WCAG обычно требуется стандартами и ГОСТ Р 52872-2019?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минимальный контраст нужен обычному тексту по уровню AA?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alt правильный для декоративной картинки-разделителя?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означает буква O в аббревиатуре POUR?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WCAG 2.2</a:t>
            </a:r>
            <a:r>
              <a:rPr sz="1200" b="0" i="0">
                <a:solidFill>
                  <a:srgbClr val="55666E"/>
                </a:solidFill>
              </a:rPr>
              <a:t>   www.w3.org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How to Meet WCAG — краткий справочник</a:t>
            </a:r>
            <a:r>
              <a:rPr sz="1200" b="0" i="0">
                <a:solidFill>
                  <a:srgbClr val="55666E"/>
                </a:solidFill>
              </a:rPr>
              <a:t>   www.w3.org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Веблайнд</a:t>
            </a:r>
            <a:r>
              <a:rPr sz="1200" b="0" i="0">
                <a:solidFill>
                  <a:srgbClr val="55666E"/>
                </a:solidFill>
              </a:rPr>
              <a:t>   weblind.ru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web.dev: курс по доступности</a:t>
            </a:r>
            <a:r>
              <a:rPr sz="1200" b="0" i="0">
                <a:solidFill>
                  <a:srgbClr val="55666E"/>
                </a:solidFill>
              </a:rPr>
              <a:t>   web.dev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WebAIM Contrast Checker</a:t>
            </a:r>
            <a:r>
              <a:rPr sz="1200" b="0" i="0">
                <a:solidFill>
                  <a:srgbClr val="55666E"/>
                </a:solidFill>
              </a:rPr>
              <a:t>   webaim.org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1. Аудит доступности сайта</dc:title>
  <cp:lastModifiedBy>fish</cp:lastModifiedBy>
  <cp:revision>3</cp:revision>
  <dcterms:modified xsi:type="dcterms:W3CDTF">2026-10-28T08:52:09Z</dcterms:modified>
</cp:coreProperties>
</file>