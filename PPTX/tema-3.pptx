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3: Контент-маркетинг и SEO-тексты. Стратегия контента, контент-план и SEO-оптимизированная статья.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Попросите студентов назвать бренд, у которого они читают полезные статьи, и обсудите, как это влияет на покупку.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в формате Word можно скачать на сайте практики. Разберите с группой «Пример выполнения» в первом пункте.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lvrd.ru/" TargetMode="External"/><Relationship Id="rId3" Type="http://schemas.openxmlformats.org/officeDocument/2006/relationships/hyperlink" Target="https://text.ru/" TargetMode="External"/><Relationship Id="rId4" Type="http://schemas.openxmlformats.org/officeDocument/2006/relationships/hyperlink" Target="https://advego.com/text/seo/" TargetMode="External"/><Relationship Id="rId5" Type="http://schemas.openxmlformats.org/officeDocument/2006/relationships/hyperlink" Target="https://wordstat.yandex.ru/" TargetMode="External"/><Relationship Id="rId6" Type="http://schemas.openxmlformats.org/officeDocument/2006/relationships/hyperlink" Target="https://schema.org/Articl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7315200" cy="1143000"/>
          </a:xfrm>
        </p:spPr>
        <p:txBody>
          <a:bodyPr anchor="ctr"/>
          <a:lstStyle/>
          <a:p>
            <a:r>
              <a:rPr sz="3400"/>
              <a:t>Контент-маркетинг и SEO-тексты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548640"/>
          </a:xfrm>
        </p:spPr>
        <p:txBody>
          <a:bodyPr/>
          <a:lstStyle/>
          <a:p>
            <a:r>
              <a:t>Стратегия контента, контент-план и SEO-оптимизированная статья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ТЕМА 3 · ЗАНЯТИЯ 7–9 · 11.11 И 18.11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666E"/>
                </a:solidFill>
              </a:rPr>
              <a:t>Учебная практика УП.09.02 «Оптимизация веб-приложений»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Что такое контент-маркетинг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Стратегия и портреты аудитории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Контент-план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Как написать SEO-статью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5584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Публикация и микроразметка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AF7B51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Занятия 7–9 · 11.11 и 18.11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2D6"/>
                </a:solidFill>
              </a:rPr>
              <a:t>Практика, видео и тест — на сайте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Цикл контент-маркетинга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1874520" y="2148840"/>
            <a:ext cx="1645920" cy="914400"/>
          </a:xfrm>
          <a:prstGeom prst="ellipse">
            <a:avLst/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20" y="214884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Контент-</a:t>
            </a:r>
          </a:p>
          <a:p>
            <a:pPr algn="ctr"/>
            <a:r>
              <a:rPr sz="1200" b="1" i="0">
                <a:solidFill>
                  <a:srgbClr val="FFFFFF"/>
                </a:solidFill>
              </a:rPr>
              <a:t>маркетинг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1660" y="1252728"/>
            <a:ext cx="1691640" cy="420624"/>
          </a:xfrm>
          <a:prstGeom prst="roundRect">
            <a:avLst>
              <a:gd name="adj" fmla="val 26086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51660" y="12527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1. Исследование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6663" y="1824228"/>
            <a:ext cx="1691640" cy="420624"/>
          </a:xfrm>
          <a:prstGeom prst="roundRect">
            <a:avLst>
              <a:gd name="adj" fmla="val 26086"/>
            </a:avLst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6663" y="18242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2. Контент-план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6663" y="2967227"/>
            <a:ext cx="1691640" cy="420624"/>
          </a:xfrm>
          <a:prstGeom prst="roundRect">
            <a:avLst>
              <a:gd name="adj" fmla="val 26086"/>
            </a:avLst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6663" y="2967227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 Создание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51660" y="3538727"/>
            <a:ext cx="1691640" cy="420624"/>
          </a:xfrm>
          <a:prstGeom prst="roundRect">
            <a:avLst>
              <a:gd name="adj" fmla="val 26086"/>
            </a:avLst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1660" y="3538727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4. SEO-оптимизация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6656" y="2967228"/>
            <a:ext cx="1691640" cy="420624"/>
          </a:xfrm>
          <a:prstGeom prst="roundRect">
            <a:avLst>
              <a:gd name="adj" fmla="val 26086"/>
            </a:avLst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656" y="29672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5. Распространение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656" y="1824228"/>
            <a:ext cx="1691640" cy="420624"/>
          </a:xfrm>
          <a:prstGeom prst="roundRect">
            <a:avLst>
              <a:gd name="adj" fmla="val 26086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656" y="1824228"/>
            <a:ext cx="16916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6. Анализ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325880"/>
            <a:ext cx="2834640" cy="2560320"/>
          </a:xfrm>
          <a:prstGeom prst="roundRect">
            <a:avLst>
              <a:gd name="adj" fmla="val 428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463040"/>
            <a:ext cx="246888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Человек находит ответ на свой вопрос, начинает доверять сайту и со временем становится клиентом.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Портрет аудитории (персона)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Кто это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возраст, род занятий, уровень знаний в теме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9140" y="123444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1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Какая задача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182880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что хочет сделать и какие вопросы задаёт поисковику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27477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Что мешает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сомнения и страхи, которые останавливают от покупки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40" y="2583180"/>
            <a:ext cx="3771900" cy="1120140"/>
          </a:xfrm>
          <a:prstGeom prst="roundRect">
            <a:avLst>
              <a:gd name="adj" fmla="val 979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13731" y="274777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731" y="27477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274777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Где ищет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177540"/>
            <a:ext cx="294894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поиск, соцсети, видео, форумы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Пример: «начинающий дачник» ищет простые инструкции, «опытный садовод» — редкие сорта.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Контент-план: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77240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651760"/>
                <a:gridCol w="1737360"/>
                <a:gridCol w="25603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Дата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Тема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Формат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Ключевой запрос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03.11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Как посадить тую весной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Инструкция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как посадить тую весной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06.11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5 ошибок при посадке роз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Список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посадка роз ошибки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10.11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Саженцы для живой изгороди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Подборка с ценами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саженцы для изгороди купить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Баланс: около 70–80 % полезных материалов и 20–30 % продающих.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Как написать SEO-статью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0664" y="1618488"/>
            <a:ext cx="0" cy="256031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216152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21615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Семантика: основной и 5–10 дополнительных запросов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" y="2258568"/>
            <a:ext cx="0" cy="256032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874519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856231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856231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Анализ топ-5 выдачи: объём, разделы, медиа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" y="2898648"/>
            <a:ext cx="0" cy="256032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496312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49631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Структура: H1 → H2 → H3 → вывод с призывом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" y="3538727"/>
            <a:ext cx="0" cy="256032"/>
          </a:xfrm>
          <a:prstGeom prst="line">
            <a:avLst/>
          </a:prstGeom>
          <a:ln w="25400">
            <a:solidFill>
              <a:srgbClr val="D5DA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3154679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5467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136391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36391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Метатеги: title до 60–70, description до 160 символов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776472"/>
            <a:ext cx="7223760" cy="420624"/>
          </a:xfrm>
          <a:prstGeom prst="roundRect">
            <a:avLst>
              <a:gd name="adj" fmla="val 26086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3776472"/>
            <a:ext cx="69494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Текст для людей: без переспама, короткие абзацы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Проверка качества текста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771650" cy="246888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≥ 85 %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405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уникальность (Text.ru, Advego)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48890" y="1234440"/>
            <a:ext cx="1771650" cy="246888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3177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≤ 60 %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1770" y="2286000"/>
            <a:ext cx="1405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«водность»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9140" y="1234440"/>
            <a:ext cx="1771650" cy="246888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202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≤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2020" y="2286000"/>
            <a:ext cx="1405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«тошнота» — повтор самого частого слова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9390" y="1234440"/>
            <a:ext cx="1771650" cy="2468880"/>
          </a:xfrm>
          <a:prstGeom prst="roundRect">
            <a:avLst>
              <a:gd name="adj" fmla="val 6193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2270" y="1417320"/>
            <a:ext cx="140589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7,5+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2270" y="2286000"/>
            <a:ext cx="140589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666E"/>
                </a:solidFill>
              </a:rPr>
              <a:t>баллов в Главреде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Это ориентиры копирайтеров: поисковые системы точных норм не публикуют.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Публикация и микроразметка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8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Понятный адрес (ЧПУ): /articles/kak-posadit-tuyu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Изображения в WebP с alt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2–3 внутренние ссылки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Проверка: validator.schema.org, Яндекс Вебмастер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&lt;script type="application/ld+json"&gt;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{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"@context": "https://schema.org",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"@type": "Article",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"headline": "Как посадить тую весной",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"author": {"@type": "Person",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       "name": "Иван Петров"},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"datePublished": "2026-11-11"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}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&lt;/script&gt;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Практическая работа 3: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35331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Разработать стратегию и портреты аудитории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848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Составить контент-план на месяц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81635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Подготовить семантику, структуру и метатеги статьи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13533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Написать статью и проверить качество текста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1" y="2084832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Опубликовать статью на сайте с микроразметкой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1" y="281635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Сформулировать рекомендации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Работа выполняется на вашем сайте. Изменения кода — коммитами в GitHub, отчёт — со скриншотами.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Что лучше всего описывает контент-маркетинг?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Сколько заголовков H1 должно быть на странице статьи?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Что такое «тошнота» текста?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Какая длина обычно рекомендуется для метатега description?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Полный тест с пояснениями к каждому ответу — на сайте практики, в конце страницы темы.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Полезные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11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2"/>
              </a:rPr>
              <a:t>Главред</a:t>
            </a:r>
            <a:r>
              <a:rPr sz="1200" b="0" i="0">
                <a:solidFill>
                  <a:srgbClr val="55666E"/>
                </a:solidFill>
              </a:rPr>
              <a:t>   glvrd.ru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3"/>
              </a:rPr>
              <a:t>Text.ru</a:t>
            </a:r>
            <a:r>
              <a:rPr sz="1200" b="0" i="0">
                <a:solidFill>
                  <a:srgbClr val="55666E"/>
                </a:solidFill>
              </a:rPr>
              <a:t>   text.ru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4"/>
              </a:rPr>
              <a:t>Advego: SEO-анализ текста</a:t>
            </a:r>
            <a:r>
              <a:rPr sz="1200" b="0" i="0">
                <a:solidFill>
                  <a:srgbClr val="55666E"/>
                </a:solidFill>
              </a:rPr>
              <a:t>   advego.com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5"/>
              </a:rPr>
              <a:t>Яндекс Вордстат</a:t>
            </a:r>
            <a:r>
              <a:rPr sz="1200" b="0" i="0">
                <a:solidFill>
                  <a:srgbClr val="55666E"/>
                </a:solidFill>
              </a:rPr>
              <a:t>   wordstat.yandex.ru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6"/>
              </a:rPr>
              <a:t>Schema.org: Article</a:t>
            </a:r>
            <a:r>
              <a:rPr sz="1200" b="0" i="0">
                <a:solidFill>
                  <a:srgbClr val="55666E"/>
                </a:solidFill>
              </a:rPr>
              <a:t>   schema.org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Выполнить практическую работу на своём сайте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719072"/>
            <a:ext cx="411480" cy="41148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Пройти тест для самопроверки на сайте практики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Зафиксировать изменения коммитом в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3044952"/>
            <a:ext cx="411480" cy="41148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Добавить раздел в итоговый отчёт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3. Контент-маркетинг и SEO-тексты</dc:title>
  <cp:lastModifiedBy>fish</cp:lastModifiedBy>
  <cp:revision>3</cp:revision>
  <dcterms:modified xsi:type="dcterms:W3CDTF">2026-10-28T08:52:09Z</dcterms:modified>
</cp:coreProperties>
</file>