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3"/>
  </p:notes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64"/>
      <p:bold r:id="rId65"/>
      <p:italic r:id="rId66"/>
      <p:boldItalic r:id="rId67"/>
    </p:embeddedFont>
    <p:embeddedFont>
      <p:font typeface="Nunito" pitchFamily="2" charset="-52"/>
      <p:regular r:id="rId68"/>
      <p:bold r:id="rId69"/>
      <p:italic r:id="rId70"/>
      <p:boldItalic r:id="rId71"/>
    </p:embeddedFont>
    <p:embeddedFont>
      <p:font typeface="Trebuchet MS" panose="020B0603020202020204" pitchFamily="34" charset="0"/>
      <p:regular r:id="rId72"/>
      <p:bold r:id="rId73"/>
      <p:italic r:id="rId74"/>
      <p:boldItalic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63" Type="http://schemas.openxmlformats.org/officeDocument/2006/relationships/notesMaster" Target="notesMasters/notesMaster1.xml"/><Relationship Id="rId64" Type="http://schemas.openxmlformats.org/officeDocument/2006/relationships/font" Target="fonts/font1.fntdata"/><Relationship Id="rId65" Type="http://schemas.openxmlformats.org/officeDocument/2006/relationships/font" Target="fonts/font2.fntdata"/><Relationship Id="rId66" Type="http://schemas.openxmlformats.org/officeDocument/2006/relationships/font" Target="fonts/font3.fntdata"/><Relationship Id="rId67" Type="http://schemas.openxmlformats.org/officeDocument/2006/relationships/font" Target="fonts/font4.fntdata"/><Relationship Id="rId68" Type="http://schemas.openxmlformats.org/officeDocument/2006/relationships/font" Target="fonts/font5.fntdata"/><Relationship Id="rId69" Type="http://schemas.openxmlformats.org/officeDocument/2006/relationships/font" Target="fonts/font6.fntdata"/><Relationship Id="rId70" Type="http://schemas.openxmlformats.org/officeDocument/2006/relationships/font" Target="fonts/font7.fntdata"/><Relationship Id="rId71" Type="http://schemas.openxmlformats.org/officeDocument/2006/relationships/font" Target="fonts/font8.fntdata"/><Relationship Id="rId72" Type="http://schemas.openxmlformats.org/officeDocument/2006/relationships/font" Target="fonts/font9.fntdata"/><Relationship Id="rId73" Type="http://schemas.openxmlformats.org/officeDocument/2006/relationships/font" Target="fonts/font10.fntdata"/><Relationship Id="rId74" Type="http://schemas.openxmlformats.org/officeDocument/2006/relationships/font" Target="fonts/font11.fntdata"/><Relationship Id="rId75" Type="http://schemas.openxmlformats.org/officeDocument/2006/relationships/font" Target="fonts/font12.fntdata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Рубрики</c:v>
                </c:pt>
              </c:strCache>
            </c:strRef>
          </c:tx>
          <c:dPt>
            <c:idx val="0"/>
            <c:spPr>
              <a:solidFill>
                <a:srgbClr val="3D4594"/>
              </a:solidFill>
            </c:spPr>
          </c:dPt>
          <c:dPt>
            <c:idx val="1"/>
            <c:spPr>
              <a:solidFill>
                <a:srgbClr val="D9563F"/>
              </a:solidFill>
            </c:spPr>
          </c:dPt>
          <c:dPt>
            <c:idx val="2"/>
            <c:spPr>
              <a:solidFill>
                <a:srgbClr val="00796B"/>
              </a:solidFill>
            </c:spPr>
          </c:dPt>
          <c:dPt>
            <c:idx val="3"/>
            <c:spPr>
              <a:solidFill>
                <a:srgbClr val="C4A15A"/>
              </a:solidFill>
            </c:spPr>
          </c:dPt>
          <c:cat>
            <c:strRef>
              <c:f>Sheet1!$A$2:$A$5</c:f>
              <c:strCache>
                <c:ptCount val="4"/>
                <c:pt idx="0">
                  <c:v>полезные — советы, инструкции</c:v>
                </c:pt>
                <c:pt idx="1">
                  <c:v>вовлекающие — опросы, игры</c:v>
                </c:pt>
                <c:pt idx="2">
                  <c:v>продающие — товары, акции</c:v>
                </c:pt>
                <c:pt idx="3">
                  <c:v>новости, закулисье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Тема 4: SMM: продвижение в социальных сетях. Площадки, рубрики, контент-план, Open Graph и метрики.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Попросите каждого студента назвать площадку для своего сайта и обосновать выбор одним предложением.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Задание в формате Word можно скачать на сайте практики. Разберите с группой «Пример выполнения» в первом пункте.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ogp.me/" TargetMode="External"/><Relationship Id="rId3" Type="http://schemas.openxmlformats.org/officeDocument/2006/relationships/hyperlink" Target="https://vk.ru/@vk_ads-kakie-targetingi-est-v-vk-reklame" TargetMode="External"/><Relationship Id="rId4" Type="http://schemas.openxmlformats.org/officeDocument/2006/relationships/hyperlink" Target="https://ads.vk.ru/en/help/features/technology" TargetMode="External"/><Relationship Id="rId5" Type="http://schemas.openxmlformats.org/officeDocument/2006/relationships/hyperlink" Target="https://www.opengraph.xyz/" TargetMode="External"/><Relationship Id="rId6" Type="http://schemas.openxmlformats.org/officeDocument/2006/relationships/hyperlink" Target="https://telegram.org/tour/channel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5920"/>
            <a:ext cx="7315200" cy="1143000"/>
          </a:xfrm>
        </p:spPr>
        <p:txBody>
          <a:bodyPr anchor="ctr"/>
          <a:lstStyle/>
          <a:p>
            <a:r>
              <a:rPr sz="3400"/>
              <a:t>SMM: продвижение в социальных сетях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0360"/>
            <a:ext cx="6400800" cy="548640"/>
          </a:xfrm>
        </p:spPr>
        <p:txBody>
          <a:bodyPr/>
          <a:lstStyle/>
          <a:p>
            <a:r>
              <a:t>Площадки, рубрики, контент-план, Open Graph и метрики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0796B"/>
                </a:solidFill>
              </a:rPr>
              <a:t>ТЕМА 4 · ЗАНЯТИЯ 10–12 · 18.11 И 25.11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55666E"/>
                </a:solidFill>
              </a:rPr>
              <a:t>Учебная практика УП.09.02 «Оптимизация веб-приложений»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План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Выбор площадки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84048" cy="384048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64792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Рубрики и контент-план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95144"/>
            <a:ext cx="384048" cy="384048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95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95144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Open Graph: превью ссылки на сайт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25496"/>
            <a:ext cx="384048" cy="384048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Продвижение: бесплатное и платное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5584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233A44"/>
                </a:solidFill>
              </a:rPr>
              <a:t>Метрики SMM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344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14173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AF7B51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5146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Занятия 10–12 · 18.11 и 25.11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089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9D2D6"/>
                </a:solidFill>
              </a:rPr>
              <a:t>Практика, видео и тест — на сайте практики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Выбор площадки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772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301752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Площадка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Сильные стороны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Кому подходит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ВКонтакте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сообщества, товары, клипы, VK Реклама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почти любому бизнесу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Telegram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каналы, боты, высокая доля прочтений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новости, экспертный контент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Одноклассники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аудитория старшего возраста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дом, дача, здоровье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Дзен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статьи и видео с рекомендациями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длинный полезный контент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Выбираем не «где модно», а где уже есть ваша целевая аудитория.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Рубрики: пример распределения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43000"/>
          <a:ext cx="283464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val 4"/>
          <p:cNvSpPr/>
          <p:nvPr/>
        </p:nvSpPr>
        <p:spPr>
          <a:xfrm>
            <a:off x="3749039" y="1325880"/>
            <a:ext cx="438912" cy="438912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39" y="1325880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325880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полезные — советы, инструкции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1929384"/>
            <a:ext cx="438912" cy="438912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9293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1929384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вовлекающие — опросы, игры</a:t>
            </a:r>
          </a:p>
        </p:txBody>
      </p:sp>
      <p:sp>
        <p:nvSpPr>
          <p:cNvPr id="11" name="Oval 10"/>
          <p:cNvSpPr/>
          <p:nvPr/>
        </p:nvSpPr>
        <p:spPr>
          <a:xfrm>
            <a:off x="3749039" y="2532888"/>
            <a:ext cx="438912" cy="438912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53288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532888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продающие — товары, акции</a:t>
            </a:r>
          </a:p>
        </p:txBody>
      </p:sp>
      <p:sp>
        <p:nvSpPr>
          <p:cNvPr id="14" name="Oval 13"/>
          <p:cNvSpPr/>
          <p:nvPr/>
        </p:nvSpPr>
        <p:spPr>
          <a:xfrm>
            <a:off x="3749039" y="3136391"/>
            <a:ext cx="438912" cy="438912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136391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36391"/>
            <a:ext cx="39319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33A44"/>
                </a:solidFill>
              </a:rPr>
              <a:t>новости, закулисье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Ссылки на сайт — с UTM-метками: utm_source=vk&amp;utm_medium=social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Open Graph: превью ссылки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5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80160"/>
            <a:ext cx="329184" cy="329184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52728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Метатеги размещаются в &lt;head&gt;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93391"/>
            <a:ext cx="329184" cy="329184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Картинка превью — 1200×630 пикселей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06624"/>
            <a:ext cx="329184" cy="329184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679192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Площадки кэшируют превью: для проверки добавьте ?v=2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19856"/>
            <a:ext cx="329184" cy="329184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33A44"/>
                </a:solidFill>
              </a:rPr>
              <a:t>Проверка: opengraph.xyz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188720"/>
            <a:ext cx="4069080" cy="3246120"/>
          </a:xfrm>
          <a:prstGeom prst="roundRect">
            <a:avLst>
              <a:gd name="adj" fmla="val 338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374903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property="og:type" content="website"&gt;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property="og:title"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content="Кофейня «Зерно»"&gt;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property="og:description"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content="Свежая обжарка и десерты"&gt;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property="og:image"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content="https://site.ru/og.jpg"&gt;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&lt;meta property="og:url"</a:t>
            </a:r>
          </a:p>
          <a:p>
            <a:pPr algn="l"/>
            <a:r>
              <a:rPr sz="1050" b="0" i="0">
                <a:solidFill>
                  <a:srgbClr val="E8EAF0"/>
                </a:solidFill>
                <a:latin typeface="Courier New"/>
              </a:rPr>
              <a:t>      content="https://site.ru/"&gt;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Способы продвижения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39903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Бесплатные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взаимные упоминания, конкурсы, кросс-постинг, ссылки на сообщество с сайта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9140" y="123444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731" y="13990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3731" y="13990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4940" y="139903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Таргетированная реклама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4940" y="1828800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VK Реклама: география, возраст, интересы, ключевые фразы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0322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" y="306781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678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6781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Ретаргетинг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97579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пиксель VK на сайте собирает аудиторию посетителей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49140" y="2903220"/>
            <a:ext cx="3771900" cy="1440180"/>
          </a:xfrm>
          <a:prstGeom prst="roundRect">
            <a:avLst>
              <a:gd name="adj" fmla="val 7619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13731" y="30678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3731" y="30678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4940" y="3067812"/>
            <a:ext cx="29489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33A44"/>
                </a:solidFill>
              </a:rPr>
              <a:t>Посевы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4940" y="3497579"/>
            <a:ext cx="294894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5666E"/>
                </a:solidFill>
              </a:rPr>
              <a:t>платные публикации в чужих каналах и сообществах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Метрики SMM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7724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577840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Метрика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Что показывает</a:t>
                      </a:r>
                    </a:p>
                  </a:txBody>
                  <a:tcPr marL="73152" marR="73152" marT="27432" marB="27432" anchor="ctr">
                    <a:solidFill>
                      <a:srgbClr val="233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Охват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сколько уникальных людей увидели публикацию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ER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(реакции + комментарии + репосты) / охват × 100 %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Прирост подписчиков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новые минус отписавшиеся за период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CTR публикации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переходы по ссылке / охват</a:t>
                      </a:r>
                    </a:p>
                  </a:txBody>
                  <a:tcPr marL="73152" marR="73152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A44"/>
                          </a:solidFill>
                        </a:rPr>
                        <a:t>Стоимость подписчика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A44"/>
                          </a:solidFill>
                        </a:rPr>
                        <a:t>расход на рекламу / новые подписчики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Практическая работа 4: этапы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35331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Выбрать площадки и проанализировать конкурентов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84832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Оформить сообщество проекта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" y="281635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Разработать рубрики, контент-план и публикации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123444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1" y="1353312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1" y="135331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23444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Настроить разметку Open Graph на сайте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196596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5151" y="2084832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1" y="20848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96596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Спланировать продвижение и метрики SMM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2697480"/>
            <a:ext cx="3794760" cy="603504"/>
          </a:xfrm>
          <a:prstGeom prst="roundRect">
            <a:avLst>
              <a:gd name="adj" fmla="val 1818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5151" y="2816352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1" y="28163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97480"/>
            <a:ext cx="3108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Сформулировать выводы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Работа выполняется на вашем сайте. Изменения кода — коммитами в GitHub, отчёт — со скриншотами.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Вопросы для самопроверки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796B"/>
                </a:solidFill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 правильно выбирать социальную площадку для продвижения?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23444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134416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9563F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4416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Какой метатег задаёт картинку в превью ссылки?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4A15A"/>
                </a:solidFill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Как считается ER (вовлечённость)?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79" y="2468880"/>
            <a:ext cx="3794760" cy="1051560"/>
          </a:xfrm>
          <a:prstGeom prst="roundRect">
            <a:avLst>
              <a:gd name="adj" fmla="val 1043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257860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3D4594"/>
                </a:solidFill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578608"/>
            <a:ext cx="3063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33A44"/>
                </a:solidFill>
              </a:rPr>
              <a:t>Сообщество публикует только прайс-листы и акции. Что вероятнее всего произойдёт?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86200"/>
            <a:ext cx="7772400" cy="548640"/>
          </a:xfrm>
          <a:prstGeom prst="roundRect">
            <a:avLst>
              <a:gd name="adj" fmla="val 2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7406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55666E"/>
                </a:solidFill>
              </a:rPr>
              <a:t>Полный тест с пояснениями к каждому ответу — на сайте практики, в конце страницы темы.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Полезные ресурсы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271016"/>
            <a:ext cx="365760" cy="36576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7101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34440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2"/>
              </a:rPr>
              <a:t>The Open Graph protocol</a:t>
            </a:r>
            <a:r>
              <a:rPr sz="1200" b="0" i="0">
                <a:solidFill>
                  <a:srgbClr val="55666E"/>
                </a:solidFill>
              </a:rPr>
              <a:t>   ogp.me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37944"/>
            <a:ext cx="365760" cy="36576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379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01368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3"/>
              </a:rPr>
              <a:t>VK Реклама: какие таргетинги есть</a:t>
            </a:r>
            <a:r>
              <a:rPr sz="1200" b="0" i="0">
                <a:solidFill>
                  <a:srgbClr val="55666E"/>
                </a:solidFill>
              </a:rPr>
              <a:t>   vk.ru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04872"/>
            <a:ext cx="365760" cy="36576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0487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68296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4"/>
              </a:rPr>
              <a:t>Справочный центр VK Рекламы</a:t>
            </a:r>
            <a:r>
              <a:rPr sz="1200" b="0" i="0">
                <a:solidFill>
                  <a:srgbClr val="55666E"/>
                </a:solidFill>
              </a:rPr>
              <a:t>   ads.vk.ru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65760" cy="36576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5"/>
              </a:rPr>
              <a:t>OpenGraph.xyz</a:t>
            </a:r>
            <a:r>
              <a:rPr sz="1200" b="0" i="0">
                <a:solidFill>
                  <a:srgbClr val="55666E"/>
                </a:solidFill>
              </a:rPr>
              <a:t>   www.opengraph.xyz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AF7B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387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02152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3D4594"/>
                </a:solidFill>
                <a:hlinkClick r:id="rId6"/>
              </a:rPr>
              <a:t>Telegram: каналы</a:t>
            </a:r>
            <a:r>
              <a:rPr sz="1200" b="0" i="0">
                <a:solidFill>
                  <a:srgbClr val="55666E"/>
                </a:solidFill>
              </a:rPr>
              <a:t>   telegram.org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772400" cy="731520"/>
          </a:xfrm>
        </p:spPr>
        <p:txBody>
          <a:bodyPr anchor="ctr"/>
          <a:lstStyle/>
          <a:p>
            <a:r>
              <a:rPr sz="2800"/>
              <a:t>К следующему занятию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0" y="457200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66E"/>
                </a:solidFill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719072"/>
            <a:ext cx="411480" cy="411480"/>
          </a:xfrm>
          <a:prstGeom prst="ellipse">
            <a:avLst/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Выполнить практическую работу на своём сайте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137160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719072"/>
            <a:ext cx="411480" cy="411480"/>
          </a:xfrm>
          <a:prstGeom prst="ellipse">
            <a:avLst/>
          </a:prstGeom>
          <a:solidFill>
            <a:srgbClr val="D95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71907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37160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Пройти тест для самопроверки на сайте практики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044952"/>
            <a:ext cx="411480" cy="411480"/>
          </a:xfrm>
          <a:prstGeom prst="ellipse">
            <a:avLst/>
          </a:prstGeom>
          <a:solidFill>
            <a:srgbClr val="C4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Зафиксировать изменения коммитом в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2697480"/>
            <a:ext cx="3794760" cy="1097280"/>
          </a:xfrm>
          <a:prstGeom prst="roundRect">
            <a:avLst>
              <a:gd name="adj" fmla="val 10000"/>
            </a:avLst>
          </a:prstGeom>
          <a:solidFill>
            <a:srgbClr val="23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79" y="3044952"/>
            <a:ext cx="411480" cy="411480"/>
          </a:xfrm>
          <a:prstGeom prst="ellipse">
            <a:avLst/>
          </a:prstGeom>
          <a:solidFill>
            <a:srgbClr val="3D4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0449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80"/>
            <a:ext cx="2788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Добавить раздел в итоговый отчёт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3591</Words>
  <Application>Microsoft Office PowerPoint</Application>
  <PresentationFormat>Экран (16:9)</PresentationFormat>
  <Paragraphs>292</Paragraphs>
  <Slides>61</Slides>
  <Notes>61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61</vt:i4>
      </vt:variant>
    </vt:vector>
  </HeadingPairs>
  <TitlesOfParts>
    <vt:vector size="66" baseType="lpstr">
      <vt:lpstr>Nunito</vt:lpstr>
      <vt:lpstr>Arial</vt:lpstr>
      <vt:lpstr>Trebuchet MS</vt:lpstr>
      <vt:lpstr>Calibri</vt:lpstr>
      <vt:lpstr>Shift</vt:lpstr>
      <vt:lpstr>Контекстная реклама</vt:lpstr>
      <vt:lpstr>Основные термины</vt:lpstr>
      <vt:lpstr>Что такое контекстная реклама</vt:lpstr>
      <vt:lpstr>Презентация PowerPoint</vt:lpstr>
      <vt:lpstr>Какие задачи можно решить с помощью контекстной рекламы?</vt:lpstr>
      <vt:lpstr>Как работает контекстная реклама?</vt:lpstr>
      <vt:lpstr>Презентация PowerPoint</vt:lpstr>
      <vt:lpstr>Виды рекламных кампаний в Яндекс Директ</vt:lpstr>
      <vt:lpstr>Основные типы таргетингов в Яндекс Директ</vt:lpstr>
      <vt:lpstr>Модели оплаты рекламы в Яндекс Директ</vt:lpstr>
      <vt:lpstr>Рекламные форматы в Яндекс Директ</vt:lpstr>
      <vt:lpstr>Главное правило в контекстной рекламе - релевантность!</vt:lpstr>
      <vt:lpstr>Преимущества и недостатки контекстной рекламы</vt:lpstr>
      <vt:lpstr>Основные отличия контекстной рекламы от таргетированной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Примеры</vt:lpstr>
      <vt:lpstr>Пример</vt:lpstr>
      <vt:lpstr>Пример</vt:lpstr>
      <vt:lpstr>Основные инструменты которые понадобятся для работы</vt:lpstr>
      <vt:lpstr>Основные сервисы которые  пригодятся в работе</vt:lpstr>
      <vt:lpstr>Основные отличия контекстной рекламы в Яндекс Директ &amp; Google Ads</vt:lpstr>
      <vt:lpstr>Презентация PowerPoint</vt:lpstr>
      <vt:lpstr>Расширения объявлений</vt:lpstr>
      <vt:lpstr>Приоритет минус-фраз</vt:lpstr>
      <vt:lpstr>Скрипты и правила</vt:lpstr>
      <vt:lpstr>Аудитория рекламных систем</vt:lpstr>
      <vt:lpstr>Стратегии назначения ставок</vt:lpstr>
      <vt:lpstr>Презентация PowerPoint</vt:lpstr>
      <vt:lpstr>Что же такое Яндекс Метрика</vt:lpstr>
      <vt:lpstr>Презентация PowerPoint</vt:lpstr>
      <vt:lpstr>Презентация PowerPoint</vt:lpstr>
      <vt:lpstr>Задачи которые можно решить с помощью веб-аналитики</vt:lpstr>
      <vt:lpstr>Что можно делать в Яндекс Метрике</vt:lpstr>
      <vt:lpstr>Подключение Яндекс Метрики к сайту</vt:lpstr>
      <vt:lpstr>Основные инструменты Яндекс Метрики</vt:lpstr>
      <vt:lpstr>Основные показатели в веб-аналитике </vt:lpstr>
      <vt:lpstr>UTM - метки</vt:lpstr>
      <vt:lpstr>Также есть динамические параметры и у каждой рекламной системы они разные. </vt:lpstr>
      <vt:lpstr>Если нет правильно настроенных целей, то нет и аналитики как таковой</vt:lpstr>
      <vt:lpstr>Создание целей в Метрике</vt:lpstr>
      <vt:lpstr>Основные отчеты в Метрике</vt:lpstr>
      <vt:lpstr>Тонкости в веб-аналитике</vt:lpstr>
      <vt:lpstr>Тонкости в веб-аналитике</vt:lpstr>
      <vt:lpstr>Как работать с данными?</vt:lpstr>
      <vt:lpstr>Помните!</vt:lpstr>
      <vt:lpstr>Яндекс.Аудитории</vt:lpstr>
      <vt:lpstr>День - 2</vt:lpstr>
      <vt:lpstr>Настройка рекламной кампании в РСЯ </vt:lpstr>
      <vt:lpstr>Стратегии назначения ставок в РСЯ</vt:lpstr>
      <vt:lpstr>Типы объявлений в РСЯ</vt:lpstr>
      <vt:lpstr>Правила работы с объявлениями в РСЯ</vt:lpstr>
      <vt:lpstr>Основные рекомендации к изображениям в РСЯ</vt:lpstr>
      <vt:lpstr>Как подбирать ключевые фразы в РСЯ</vt:lpstr>
      <vt:lpstr>Практическая часть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4. SMM: продвижение в социальных сетях</dc:title>
  <cp:lastModifiedBy>fish</cp:lastModifiedBy>
  <cp:revision>3</cp:revision>
  <dcterms:modified xsi:type="dcterms:W3CDTF">2026-10-28T08:52:09Z</dcterms:modified>
</cp:coreProperties>
</file>