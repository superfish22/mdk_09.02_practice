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3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4"/>
      <p:bold r:id="rId65"/>
      <p:italic r:id="rId66"/>
      <p:boldItalic r:id="rId67"/>
    </p:embeddedFont>
    <p:embeddedFont>
      <p:font typeface="Nunito" pitchFamily="2" charset="-52"/>
      <p:regular r:id="rId68"/>
      <p:bold r:id="rId69"/>
      <p:italic r:id="rId70"/>
      <p:boldItalic r:id="rId71"/>
    </p:embeddedFont>
    <p:embeddedFont>
      <p:font typeface="Trebuchet MS" panose="020B060302020202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font" Target="fonts/font7.fntdata"/><Relationship Id="rId71" Type="http://schemas.openxmlformats.org/officeDocument/2006/relationships/font" Target="fonts/font8.fntdata"/><Relationship Id="rId72" Type="http://schemas.openxmlformats.org/officeDocument/2006/relationships/font" Target="fonts/font9.fntdata"/><Relationship Id="rId73" Type="http://schemas.openxmlformats.org/officeDocument/2006/relationships/font" Target="fonts/font10.fntdata"/><Relationship Id="rId74" Type="http://schemas.openxmlformats.org/officeDocument/2006/relationships/font" Target="fonts/font11.fntdata"/><Relationship Id="rId75" Type="http://schemas.openxmlformats.org/officeDocument/2006/relationships/font" Target="fonts/font12.fnt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Тема 6: Email-маркетинг. Сегментация, законодательство, HTML-письмо, тестирование и метрики.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Попросите студентов показать приветственное письмо из любого магазина, на который они подписаны, и разобрать его.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Задание в формате Word можно скачать на сайте практики. Разберите с группой «Пример выполнения» в первом пункте.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consultant.ru/law/podborki/reklama_bez_soglasiya/" TargetMode="External"/><Relationship Id="rId3" Type="http://schemas.openxmlformats.org/officeDocument/2006/relationships/hyperlink" Target="https://www.mail-tester.com/" TargetMode="External"/><Relationship Id="rId4" Type="http://schemas.openxmlformats.org/officeDocument/2006/relationships/hyperlink" Target="https://www.caniemail.com/" TargetMode="External"/><Relationship Id="rId5" Type="http://schemas.openxmlformats.org/officeDocument/2006/relationships/hyperlink" Target="https://www.unisender.com/ru/" TargetMode="External"/><Relationship Id="rId6" Type="http://schemas.openxmlformats.org/officeDocument/2006/relationships/hyperlink" Target="https://dashamail.ru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5920"/>
            <a:ext cx="7315200" cy="1143000"/>
          </a:xfrm>
        </p:spPr>
        <p:txBody>
          <a:bodyPr anchor="ctr"/>
          <a:lstStyle/>
          <a:p>
            <a:r>
              <a:rPr sz="3400"/>
              <a:t>Email-маркетинг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548640"/>
          </a:xfrm>
        </p:spPr>
        <p:txBody>
          <a:bodyPr/>
          <a:lstStyle/>
          <a:p>
            <a:r>
              <a:t>Сегментация, законодательство, HTML-письмо, тестирование и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96B"/>
                </a:solidFill>
              </a:rPr>
              <a:t>ТЕМА 6 · ЗАНЯТИЯ 16–18 · 09.12 И 16.12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666E"/>
                </a:solidFill>
              </a:rPr>
              <a:t>Учебная практика УП.09.02 «Оптимизация веб-приложений»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План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Стратегия и сегментация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64792"/>
            <a:ext cx="384048" cy="384048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Законодательство о рассылках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5144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Вёрстка HTML-письма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Тестирование и доставляемость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5584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Метрики и A/B-тесты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3444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4173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AF7B51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14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Занятия 16–18 · 09.12 и 16.12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9D2D6"/>
                </a:solidFill>
              </a:rPr>
              <a:t>Практика, видео и тест — на сайте практики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Приветственная цепочка писем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1874519"/>
            <a:ext cx="6309360" cy="0"/>
          </a:xfrm>
          <a:prstGeom prst="line">
            <a:avLst/>
          </a:prstGeom>
          <a:ln w="381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78407" y="1572768"/>
            <a:ext cx="603504" cy="603504"/>
          </a:xfrm>
          <a:prstGeom prst="ellipse">
            <a:avLst/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572768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39" y="23317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33A44"/>
                </a:solidFill>
              </a:rPr>
              <a:t>Подписка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39" y="267004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5666E"/>
                </a:solidFill>
              </a:rPr>
              <a:t>на сайте, с согласием</a:t>
            </a:r>
          </a:p>
        </p:txBody>
      </p:sp>
      <p:sp>
        <p:nvSpPr>
          <p:cNvPr id="9" name="Oval 8"/>
          <p:cNvSpPr/>
          <p:nvPr/>
        </p:nvSpPr>
        <p:spPr>
          <a:xfrm>
            <a:off x="3081528" y="1572768"/>
            <a:ext cx="603504" cy="603504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1572768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317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33A44"/>
                </a:solidFill>
              </a:rPr>
              <a:t>День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67004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5666E"/>
                </a:solidFill>
              </a:rPr>
              <a:t>приветствие и промокод</a:t>
            </a:r>
          </a:p>
        </p:txBody>
      </p:sp>
      <p:sp>
        <p:nvSpPr>
          <p:cNvPr id="13" name="Oval 12"/>
          <p:cNvSpPr/>
          <p:nvPr/>
        </p:nvSpPr>
        <p:spPr>
          <a:xfrm>
            <a:off x="5184648" y="1572768"/>
            <a:ext cx="603504" cy="603504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1572768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33A44"/>
                </a:solidFill>
              </a:rPr>
              <a:t>День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7004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5666E"/>
                </a:solidFill>
              </a:rPr>
              <a:t>полезная подборка</a:t>
            </a:r>
          </a:p>
        </p:txBody>
      </p:sp>
      <p:sp>
        <p:nvSpPr>
          <p:cNvPr id="17" name="Oval 16"/>
          <p:cNvSpPr/>
          <p:nvPr/>
        </p:nvSpPr>
        <p:spPr>
          <a:xfrm>
            <a:off x="7287768" y="1572768"/>
            <a:ext cx="603504" cy="603504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1572768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317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233A44"/>
                </a:solidFill>
              </a:rPr>
              <a:t>День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70048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5666E"/>
                </a:solidFill>
              </a:rPr>
              <a:t>отзывы и кейсы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Другие цепочки: брошенная корзина, повторная покупка, день рождения, реактивация.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Законодательство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39903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38-ФЗ «О рекламе», ст.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реклама по email — только с предварительного согласия получателя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9140" y="123444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731" y="13990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1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49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152-ФЗ «О персональных данных»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0" y="182880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сбор e-mail и имени — обработка персональных данных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8318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27477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477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4777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Double opt-in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754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подтверждение подписки по ссылке из письма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9140" y="258318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13731" y="274777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3731" y="27477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274777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В каждом письме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0" y="317754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сведения об отправителе и ссылка «Отписаться»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Флажок согласия не отмечен по умолчанию, рядом — ссылка на политику обработки данных.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Вёрстка HTML-письма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5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329184" cy="329184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527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Табличная вёрстка, ширина около 600 px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93391"/>
            <a:ext cx="329184" cy="329184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Встроенные стили style="…"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06624"/>
            <a:ext cx="329184" cy="329184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alt, ширина и высота у изображений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9856"/>
            <a:ext cx="329184" cy="329184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Тема до ~50, прехедер до ~100 символов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4069080" cy="3246120"/>
          </a:xfrm>
          <a:prstGeom prst="roundRect">
            <a:avLst>
              <a:gd name="adj" fmla="val 338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&lt;table role="presentation" width="600"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style="margin:0 auto;background:#fff"&gt;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&lt;tr&gt;&lt;td style="padding:24px;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      font-size:16px"&gt;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Ваш промокод: &lt;b&gt;HELLO10&lt;/b&gt;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&lt;/td&gt;&lt;/tr&gt;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&lt;tr&gt;&lt;td align="center"&gt;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&lt;a href="https://site.ru/?utm_source=email"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style="background:#d9480f;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       color:#fff"&gt;Выбрать&lt;/a&gt;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&lt;/td&gt;&lt;/tr&gt;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&lt;/table&gt;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Воронка рассылки и метрики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4480560" cy="685800"/>
          </a:xfrm>
          <a:prstGeom prst="roundRect">
            <a:avLst>
              <a:gd name="adj" fmla="val 16000"/>
            </a:avLst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970  </a:t>
            </a:r>
            <a:r>
              <a:rPr sz="1300" b="0" i="0">
                <a:solidFill>
                  <a:srgbClr val="FFFFFF"/>
                </a:solidFill>
              </a:rPr>
              <a:t>доставлено из 1 000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039112"/>
            <a:ext cx="3657600" cy="685800"/>
          </a:xfrm>
          <a:prstGeom prst="roundRect">
            <a:avLst>
              <a:gd name="adj" fmla="val 16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250  </a:t>
            </a:r>
            <a:r>
              <a:rPr sz="1300" b="0" i="0">
                <a:solidFill>
                  <a:srgbClr val="FFFFFF"/>
                </a:solidFill>
              </a:rPr>
              <a:t>открыто · open rate ≈ 26 %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843784"/>
            <a:ext cx="2834640" cy="685800"/>
          </a:xfrm>
          <a:prstGeom prst="roundRect">
            <a:avLst>
              <a:gd name="adj" fmla="val 16000"/>
            </a:avLst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43784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40  </a:t>
            </a:r>
            <a:r>
              <a:rPr sz="1300" b="0" i="0">
                <a:solidFill>
                  <a:srgbClr val="FFFFFF"/>
                </a:solidFill>
              </a:rPr>
              <a:t>кликов · CTOR 16 %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23444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37160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Формулы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37360"/>
            <a:ext cx="26974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• Open rate = открытия / доставлено</a:t>
            </a:r>
          </a:p>
          <a:p>
            <a:pPr algn="l"/>
            <a:r>
              <a:rPr sz="1300" b="0" i="0">
                <a:solidFill>
                  <a:srgbClr val="55666E"/>
                </a:solidFill>
              </a:rPr>
              <a:t>• CTR = клики / доставлено</a:t>
            </a:r>
          </a:p>
          <a:p>
            <a:pPr algn="l"/>
            <a:r>
              <a:rPr sz="1300" b="0" i="0">
                <a:solidFill>
                  <a:srgbClr val="55666E"/>
                </a:solidFill>
              </a:rPr>
              <a:t>• CTOR = клики / открытия</a:t>
            </a:r>
          </a:p>
          <a:p>
            <a:pPr algn="l"/>
            <a:r>
              <a:rPr sz="1300" b="0" i="0">
                <a:solidFill>
                  <a:srgbClr val="55666E"/>
                </a:solidFill>
              </a:rPr>
              <a:t>• Отписки и жалобы на спам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Доставляемость повышают записи домена SPF, DKIM и DMARC; спам-оценка — mail-tester.com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A/B-тест письма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0664" y="1618488"/>
            <a:ext cx="0" cy="256031"/>
          </a:xfrm>
          <a:prstGeom prst="line">
            <a:avLst/>
          </a:prstGeom>
          <a:ln w="254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216152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216152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Выбрать один элемент: тему, время или текст кнопки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" y="2258568"/>
            <a:ext cx="0" cy="256032"/>
          </a:xfrm>
          <a:prstGeom prst="line">
            <a:avLst/>
          </a:prstGeom>
          <a:ln w="254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874519"/>
            <a:ext cx="384048" cy="384048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856231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856231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Подготовить варианты A и B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" y="2898648"/>
            <a:ext cx="0" cy="256032"/>
          </a:xfrm>
          <a:prstGeom prst="line">
            <a:avLst/>
          </a:prstGeom>
          <a:ln w="254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2496312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496312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Отправить двум равным случайным группам по 10–20 % базы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" y="3538727"/>
            <a:ext cx="0" cy="256032"/>
          </a:xfrm>
          <a:prstGeom prst="line">
            <a:avLst/>
          </a:prstGeom>
          <a:ln w="254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8640" y="3154679"/>
            <a:ext cx="384048" cy="384048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5467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136391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136391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Сравнить по заранее выбранной метрике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776472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776472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Отправить победителя остальной базе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Практическая работа 6: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35331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Разработать стратегию и сегментацию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848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Изучить правовые требования к рассылкам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281635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Реализовать форму подписки на сайте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1" y="135331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1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Сверстать HTML-письмо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5151" y="2084832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Протестировать письмо в почтовых сервисах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1" y="281635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1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Спланировать A/B-тест и оценку эффективности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Работа выполняется на вашем сайте. Изменения кода — коммитами в GitHub, отчёт — со скриншотами.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Вопросы для самопроверки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96B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Можно ли отправлять рекламную рассылку по купленной базе адресов?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563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Что такое double opt-in?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4A15A"/>
                </a:solidFill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Почему в HTML-письмах используют встроенные стили (style="…")?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D4594"/>
                </a:solidFill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Письмо доставлено 1 000 раз, открыто 200, кликов 30. Чему равен CTOR?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Полный тест с пояснениями к каждому ответу — на сайте практики, в конце страницы темы.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Полезные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10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2"/>
              </a:rPr>
              <a:t>КонсультантПлюс: реклама без согласия</a:t>
            </a:r>
            <a:r>
              <a:rPr sz="1200" b="0" i="0">
                <a:solidFill>
                  <a:srgbClr val="55666E"/>
                </a:solidFill>
              </a:rPr>
              <a:t>   www.consultant.ru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37944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3"/>
              </a:rPr>
              <a:t>Mail-tester</a:t>
            </a:r>
            <a:r>
              <a:rPr sz="1200" b="0" i="0">
                <a:solidFill>
                  <a:srgbClr val="55666E"/>
                </a:solidFill>
              </a:rPr>
              <a:t>   www.mail-tester.com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68296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4"/>
              </a:rPr>
              <a:t>Can I email</a:t>
            </a:r>
            <a:r>
              <a:rPr sz="1200" b="0" i="0">
                <a:solidFill>
                  <a:srgbClr val="55666E"/>
                </a:solidFill>
              </a:rPr>
              <a:t>   www.caniemail.com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35224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5"/>
              </a:rPr>
              <a:t>Unisender</a:t>
            </a:r>
            <a:r>
              <a:rPr sz="1200" b="0" i="0">
                <a:solidFill>
                  <a:srgbClr val="55666E"/>
                </a:solidFill>
              </a:rPr>
              <a:t>   www.unisender.com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38728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02152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6"/>
              </a:rPr>
              <a:t>DashaMail</a:t>
            </a:r>
            <a:r>
              <a:rPr sz="1200" b="0" i="0">
                <a:solidFill>
                  <a:srgbClr val="55666E"/>
                </a:solidFill>
              </a:rPr>
              <a:t>   dashamail.ru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19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Выполнить практическую работу на своём сайте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719072"/>
            <a:ext cx="411480" cy="41148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Пройти тест для самопроверки на сайте практики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044952"/>
            <a:ext cx="411480" cy="41148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Зафиксировать изменения коммитом в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79" y="3044952"/>
            <a:ext cx="411480" cy="41148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Добавить раздел в итоговый отчёт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3591</Words>
  <Application>Microsoft Office PowerPoint</Application>
  <PresentationFormat>Экран (16:9)</PresentationFormat>
  <Paragraphs>292</Paragraphs>
  <Slides>61</Slides>
  <Notes>61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6" baseType="lpstr">
      <vt:lpstr>Nunito</vt:lpstr>
      <vt:lpstr>Arial</vt:lpstr>
      <vt:lpstr>Trebuchet MS</vt:lpstr>
      <vt:lpstr>Calibri</vt:lpstr>
      <vt:lpstr>Shift</vt:lpstr>
      <vt:lpstr>Контекстная реклама</vt:lpstr>
      <vt:lpstr>Основные термины</vt:lpstr>
      <vt:lpstr>Что такое контекстная реклама</vt:lpstr>
      <vt:lpstr>Презентация PowerPoint</vt:lpstr>
      <vt:lpstr>Какие задачи можно решить с помощью контекстной рекламы?</vt:lpstr>
      <vt:lpstr>Как работает контекстная реклама?</vt:lpstr>
      <vt:lpstr>Презентация PowerPoint</vt:lpstr>
      <vt:lpstr>Виды рекламных кампаний в Яндекс Директ</vt:lpstr>
      <vt:lpstr>Основные типы таргетингов в Яндекс Директ</vt:lpstr>
      <vt:lpstr>Модели оплаты рекламы в Яндекс Директ</vt:lpstr>
      <vt:lpstr>Рекламные форматы в Яндекс Директ</vt:lpstr>
      <vt:lpstr>Главное правило в контекстной рекламе - релевантность!</vt:lpstr>
      <vt:lpstr>Преимущества и недостатки контекстной рекламы</vt:lpstr>
      <vt:lpstr>Основные отличия контекстной рекламы от таргетированной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</vt:lpstr>
      <vt:lpstr>Пример</vt:lpstr>
      <vt:lpstr>Пример</vt:lpstr>
      <vt:lpstr>Основные инструменты которые понадобятся для работы</vt:lpstr>
      <vt:lpstr>Основные сервисы которые  пригодятся в работе</vt:lpstr>
      <vt:lpstr>Основные отличия контекстной рекламы в Яндекс Директ &amp; Google Ads</vt:lpstr>
      <vt:lpstr>Презентация PowerPoint</vt:lpstr>
      <vt:lpstr>Расширения объявлений</vt:lpstr>
      <vt:lpstr>Приоритет минус-фраз</vt:lpstr>
      <vt:lpstr>Скрипты и правила</vt:lpstr>
      <vt:lpstr>Аудитория рекламных систем</vt:lpstr>
      <vt:lpstr>Стратегии назначения ставок</vt:lpstr>
      <vt:lpstr>Презентация PowerPoint</vt:lpstr>
      <vt:lpstr>Что же такое Яндекс Метрика</vt:lpstr>
      <vt:lpstr>Презентация PowerPoint</vt:lpstr>
      <vt:lpstr>Презентация PowerPoint</vt:lpstr>
      <vt:lpstr>Задачи которые можно решить с помощью веб-аналитики</vt:lpstr>
      <vt:lpstr>Что можно делать в Яндекс Метрике</vt:lpstr>
      <vt:lpstr>Подключение Яндекс Метрики к сайту</vt:lpstr>
      <vt:lpstr>Основные инструменты Яндекс Метрики</vt:lpstr>
      <vt:lpstr>Основные показатели в веб-аналитике </vt:lpstr>
      <vt:lpstr>UTM - метки</vt:lpstr>
      <vt:lpstr>Также есть динамические параметры и у каждой рекламной системы они разные. </vt:lpstr>
      <vt:lpstr>Если нет правильно настроенных целей, то нет и аналитики как таковой</vt:lpstr>
      <vt:lpstr>Создание целей в Метрике</vt:lpstr>
      <vt:lpstr>Основные отчеты в Метрике</vt:lpstr>
      <vt:lpstr>Тонкости в веб-аналитике</vt:lpstr>
      <vt:lpstr>Тонкости в веб-аналитике</vt:lpstr>
      <vt:lpstr>Как работать с данными?</vt:lpstr>
      <vt:lpstr>Помните!</vt:lpstr>
      <vt:lpstr>Яндекс.Аудитории</vt:lpstr>
      <vt:lpstr>День - 2</vt:lpstr>
      <vt:lpstr>Настройка рекламной кампании в РСЯ </vt:lpstr>
      <vt:lpstr>Стратегии назначения ставок в РСЯ</vt:lpstr>
      <vt:lpstr>Типы объявлений в РСЯ</vt:lpstr>
      <vt:lpstr>Правила работы с объявлениями в РСЯ</vt:lpstr>
      <vt:lpstr>Основные рекомендации к изображениям в РСЯ</vt:lpstr>
      <vt:lpstr>Как подбирать ключевые фразы в РСЯ</vt:lpstr>
      <vt:lpstr>Практическая часть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6. Email-маркетинг</dc:title>
  <cp:lastModifiedBy>fish</cp:lastModifiedBy>
  <cp:revision>3</cp:revision>
  <dcterms:modified xsi:type="dcterms:W3CDTF">2026-10-28T08:52:09Z</dcterms:modified>
</cp:coreProperties>
</file>