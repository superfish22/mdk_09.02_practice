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8" r:id="rId3"/>
    <p:sldId id="318" r:id="rId4"/>
    <p:sldId id="324" r:id="rId5"/>
    <p:sldId id="325" r:id="rId6"/>
    <p:sldId id="326" r:id="rId7"/>
    <p:sldId id="323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3" r:id="rId32"/>
    <p:sldId id="282" r:id="rId33"/>
    <p:sldId id="319" r:id="rId34"/>
    <p:sldId id="284" r:id="rId35"/>
    <p:sldId id="320" r:id="rId36"/>
    <p:sldId id="321" r:id="rId37"/>
    <p:sldId id="322" r:id="rId38"/>
    <p:sldId id="327" r:id="rId39"/>
    <p:sldId id="285" r:id="rId40"/>
    <p:sldId id="328" r:id="rId41"/>
    <p:sldId id="329" r:id="rId42"/>
    <p:sldId id="330" r:id="rId43"/>
    <p:sldId id="286" r:id="rId44"/>
    <p:sldId id="287" r:id="rId45"/>
    <p:sldId id="288" r:id="rId46"/>
    <p:sldId id="289" r:id="rId47"/>
    <p:sldId id="331" r:id="rId48"/>
    <p:sldId id="332" r:id="rId49"/>
    <p:sldId id="333" r:id="rId50"/>
    <p:sldId id="334" r:id="rId51"/>
    <p:sldId id="308" r:id="rId5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>
        <p:scale>
          <a:sx n="77" d="100"/>
          <a:sy n="77" d="100"/>
        </p:scale>
        <p:origin x="-117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B90D4-3215-494F-B4F7-DBBF70ABFF1D}" type="datetimeFigureOut">
              <a:rPr lang="ru-RU" smtClean="0"/>
              <a:pPr/>
              <a:t>16.06.2017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17AA7-D51D-4DA6-B97D-E4C74948C37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drive.google.com/file/d/0Bx1JZxkgVq7vSkQ1UHMtMTluSU0/view?usp=sharing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feedman.ru/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mmplanner.com/" TargetMode="External"/><Relationship Id="rId5" Type="http://schemas.openxmlformats.org/officeDocument/2006/relationships/hyperlink" Target="https://sociate.ru/" TargetMode="External"/><Relationship Id="rId4" Type="http://schemas.openxmlformats.org/officeDocument/2006/relationships/hyperlink" Target="https://time2post.ru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1033867?hl=ru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utmurl.ru/" TargetMode="External"/><Relationship Id="rId4" Type="http://schemas.openxmlformats.org/officeDocument/2006/relationships/hyperlink" Target="http://tools.yaroshenko.by/utm.php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16632"/>
            <a:ext cx="7772400" cy="1470025"/>
          </a:xfrm>
        </p:spPr>
        <p:txBody>
          <a:bodyPr>
            <a:noAutofit/>
          </a:bodyPr>
          <a:lstStyle/>
          <a:p>
            <a:r>
              <a:rPr lang="ru-RU" sz="5100" b="1" dirty="0" smtClean="0"/>
              <a:t>Часть 1. </a:t>
            </a:r>
            <a:r>
              <a:rPr lang="en-US" sz="5100" b="1" dirty="0" smtClean="0"/>
              <a:t>SMM </a:t>
            </a:r>
            <a:r>
              <a:rPr lang="ru-RU" sz="5100" b="1" dirty="0" smtClean="0"/>
              <a:t>(Основы продвижение в соц. сетях)</a:t>
            </a:r>
            <a:endParaRPr lang="ru-RU" sz="51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03368"/>
            <a:ext cx="6984776" cy="5054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dirty="0" smtClean="0"/>
              <a:t>Что такое </a:t>
            </a:r>
            <a:r>
              <a:rPr lang="en-US" sz="6000" b="1" dirty="0" smtClean="0"/>
              <a:t>SMM</a:t>
            </a:r>
            <a:r>
              <a:rPr lang="ru-RU" sz="6000" b="1" dirty="0" smtClean="0"/>
              <a:t>?</a:t>
            </a:r>
            <a:endParaRPr lang="ru-RU" sz="6000" b="1" dirty="0"/>
          </a:p>
        </p:txBody>
      </p:sp>
      <p:pic>
        <p:nvPicPr>
          <p:cNvPr id="4" name="Содержимое 3" descr="SMM-Social-Media-Marketing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7298"/>
            <a:ext cx="9026769" cy="550070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 smtClean="0"/>
              <a:t>Ключевые проекты </a:t>
            </a:r>
            <a:r>
              <a:rPr lang="ru-RU" sz="5400" b="1" dirty="0" err="1" smtClean="0"/>
              <a:t>уанета</a:t>
            </a:r>
            <a:endParaRPr lang="ru-RU" sz="5400" b="1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793425"/>
            <a:ext cx="8691557" cy="4371879"/>
          </a:xfrm>
        </p:spPr>
      </p:pic>
    </p:spTree>
    <p:extLst>
      <p:ext uri="{BB962C8B-B14F-4D97-AF65-F5344CB8AC3E}">
        <p14:creationId xmlns:p14="http://schemas.microsoft.com/office/powerpoint/2010/main" val="94435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4982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Дети в семье у пользователей соц. сетей</a:t>
            </a:r>
            <a:endParaRPr lang="ru-RU" sz="54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88840"/>
            <a:ext cx="8744239" cy="4336415"/>
          </a:xfrm>
        </p:spPr>
      </p:pic>
    </p:spTree>
    <p:extLst>
      <p:ext uri="{BB962C8B-B14F-4D97-AF65-F5344CB8AC3E}">
        <p14:creationId xmlns:p14="http://schemas.microsoft.com/office/powerpoint/2010/main" val="93481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4982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Уровень достатка у пользователей соц. сетей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72816"/>
            <a:ext cx="8784976" cy="4941549"/>
          </a:xfrm>
        </p:spPr>
      </p:pic>
    </p:spTree>
    <p:extLst>
      <p:ext uri="{BB962C8B-B14F-4D97-AF65-F5344CB8AC3E}">
        <p14:creationId xmlns:p14="http://schemas.microsoft.com/office/powerpoint/2010/main" val="330487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4982"/>
          </a:xfrm>
        </p:spPr>
        <p:txBody>
          <a:bodyPr>
            <a:noAutofit/>
          </a:bodyPr>
          <a:lstStyle/>
          <a:p>
            <a:r>
              <a:rPr lang="ru-RU" sz="5400" b="1" dirty="0" smtClean="0"/>
              <a:t>Потребление других медиа</a:t>
            </a:r>
            <a:endParaRPr lang="ru-RU" sz="54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44824"/>
            <a:ext cx="8583217" cy="4422062"/>
          </a:xfrm>
        </p:spPr>
      </p:pic>
    </p:spTree>
    <p:extLst>
      <p:ext uri="{BB962C8B-B14F-4D97-AF65-F5344CB8AC3E}">
        <p14:creationId xmlns:p14="http://schemas.microsoft.com/office/powerpoint/2010/main" val="179687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500" b="1" dirty="0" smtClean="0"/>
              <a:t>Аудитория соц. сетей</a:t>
            </a:r>
            <a:endParaRPr lang="ru-RU" sz="6500" b="1" dirty="0"/>
          </a:p>
        </p:txBody>
      </p:sp>
      <p:pic>
        <p:nvPicPr>
          <p:cNvPr id="4" name="Содержимое 3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71611"/>
            <a:ext cx="9144000" cy="5286389"/>
          </a:xfrm>
        </p:spPr>
      </p:pic>
    </p:spTree>
    <p:extLst>
      <p:ext uri="{BB962C8B-B14F-4D97-AF65-F5344CB8AC3E}">
        <p14:creationId xmlns:p14="http://schemas.microsoft.com/office/powerpoint/2010/main" val="381037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Задачи социального маркетинга</a:t>
            </a:r>
            <a:endParaRPr lang="ru-RU" sz="6000" b="1" dirty="0"/>
          </a:p>
        </p:txBody>
      </p:sp>
      <p:pic>
        <p:nvPicPr>
          <p:cNvPr id="11" name="Содержимое 10" descr="interact-5-social-media-marketing-tips-to-boost-traffic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852" y="1714488"/>
            <a:ext cx="6572055" cy="49422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8500" b="1" dirty="0" smtClean="0"/>
              <a:t>Продажи</a:t>
            </a:r>
            <a:endParaRPr lang="ru-RU" sz="8500" b="1" dirty="0"/>
          </a:p>
        </p:txBody>
      </p:sp>
      <p:pic>
        <p:nvPicPr>
          <p:cNvPr id="8" name="Содержимое 7" descr="SAL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571612"/>
            <a:ext cx="7858180" cy="497207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8000" b="1" dirty="0" smtClean="0"/>
              <a:t>Трафик на сайт</a:t>
            </a:r>
            <a:endParaRPr lang="ru-RU" sz="8000" b="1" dirty="0"/>
          </a:p>
        </p:txBody>
      </p:sp>
      <p:pic>
        <p:nvPicPr>
          <p:cNvPr id="6" name="Содержимое 5" descr="$_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714488"/>
            <a:ext cx="8621582" cy="467720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8500" b="1" dirty="0" err="1" smtClean="0"/>
              <a:t>Брендинг</a:t>
            </a:r>
            <a:endParaRPr lang="ru-RU" sz="8500" b="1" dirty="0"/>
          </a:p>
        </p:txBody>
      </p:sp>
      <p:pic>
        <p:nvPicPr>
          <p:cNvPr id="7" name="Содержимое 6" descr="bran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000108"/>
            <a:ext cx="8643998" cy="566987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Повторные продажи</a:t>
            </a:r>
            <a:endParaRPr lang="ru-RU" sz="6500" b="1" dirty="0"/>
          </a:p>
        </p:txBody>
      </p:sp>
      <p:pic>
        <p:nvPicPr>
          <p:cNvPr id="4" name="Содержимое 3" descr="rkbtyn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1643050"/>
            <a:ext cx="8215370" cy="492922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700" b="1" dirty="0" smtClean="0"/>
              <a:t>Преимущества </a:t>
            </a:r>
            <a:br>
              <a:rPr lang="ru-RU" sz="6700" b="1" dirty="0" smtClean="0"/>
            </a:br>
            <a:r>
              <a:rPr lang="ru-RU" sz="6700" b="1" dirty="0" smtClean="0"/>
              <a:t>социальных сетей</a:t>
            </a:r>
            <a:endParaRPr lang="ru-RU" sz="6700" dirty="0"/>
          </a:p>
        </p:txBody>
      </p:sp>
      <p:pic>
        <p:nvPicPr>
          <p:cNvPr id="4" name="Содержимое 3" descr="Vibere_svou_soc_set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534" y="2143116"/>
            <a:ext cx="8865466" cy="4929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Autofit/>
          </a:bodyPr>
          <a:lstStyle/>
          <a:p>
            <a:r>
              <a:rPr lang="ru-RU" sz="7000" b="1" dirty="0" smtClean="0"/>
              <a:t>Сарафанное радио</a:t>
            </a:r>
            <a:endParaRPr lang="ru-RU" sz="7000" dirty="0"/>
          </a:p>
        </p:txBody>
      </p:sp>
      <p:pic>
        <p:nvPicPr>
          <p:cNvPr id="7" name="Содержимое 6" descr="sarafannyj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5062"/>
            <a:ext cx="8929718" cy="550293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Autofit/>
          </a:bodyPr>
          <a:lstStyle/>
          <a:p>
            <a:r>
              <a:rPr lang="ru-RU" sz="7300" b="1" dirty="0" smtClean="0"/>
              <a:t>Узкий </a:t>
            </a:r>
            <a:r>
              <a:rPr lang="ru-RU" sz="7300" b="1" dirty="0" err="1" smtClean="0"/>
              <a:t>таргетинг</a:t>
            </a:r>
            <a:endParaRPr lang="ru-RU" sz="7300" dirty="0"/>
          </a:p>
        </p:txBody>
      </p:sp>
      <p:pic>
        <p:nvPicPr>
          <p:cNvPr id="4" name="Содержимое 3" descr="demograficheskogo targeting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1549608"/>
            <a:ext cx="7858179" cy="530839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8500" b="1" dirty="0" smtClean="0"/>
              <a:t>Обратная связь</a:t>
            </a:r>
            <a:endParaRPr lang="ru-RU" sz="8500" dirty="0"/>
          </a:p>
        </p:txBody>
      </p:sp>
      <p:pic>
        <p:nvPicPr>
          <p:cNvPr id="6" name="Содержимое 5" descr="feedback-heads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346305"/>
            <a:ext cx="7358113" cy="551169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600" b="1" dirty="0" smtClean="0"/>
              <a:t>Кому подходит </a:t>
            </a:r>
            <a:r>
              <a:rPr lang="en-US" sz="6600" b="1" dirty="0" smtClean="0"/>
              <a:t>SMM</a:t>
            </a:r>
            <a:r>
              <a:rPr lang="ru-RU" sz="6600" b="1" dirty="0" smtClean="0"/>
              <a:t>?</a:t>
            </a:r>
            <a:endParaRPr lang="ru-RU" sz="6600" b="1" dirty="0"/>
          </a:p>
        </p:txBody>
      </p:sp>
      <p:pic>
        <p:nvPicPr>
          <p:cNvPr id="4" name="Содержимое 3" descr="smm_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1214422"/>
            <a:ext cx="7317890" cy="564357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7700" b="1" dirty="0" smtClean="0"/>
              <a:t>Крупный бизнес</a:t>
            </a:r>
            <a:endParaRPr lang="ru-RU" sz="7700" dirty="0"/>
          </a:p>
        </p:txBody>
      </p:sp>
      <p:pic>
        <p:nvPicPr>
          <p:cNvPr id="4" name="Содержимое 3" descr="apple-google-claima20110510-0173-19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32" y="1428736"/>
            <a:ext cx="5220528" cy="522052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Средний и малый бизнес</a:t>
            </a:r>
            <a:endParaRPr lang="ru-RU" sz="6500" dirty="0"/>
          </a:p>
        </p:txBody>
      </p:sp>
      <p:pic>
        <p:nvPicPr>
          <p:cNvPr id="6" name="Содержимое 5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48" y="1785926"/>
            <a:ext cx="7500990" cy="48690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Autofit/>
          </a:bodyPr>
          <a:lstStyle/>
          <a:p>
            <a:r>
              <a:rPr lang="ru-RU" sz="7800" b="1" dirty="0" smtClean="0"/>
              <a:t>Интернет-бизнес</a:t>
            </a:r>
            <a:endParaRPr lang="ru-RU" sz="7800" dirty="0"/>
          </a:p>
        </p:txBody>
      </p:sp>
      <p:pic>
        <p:nvPicPr>
          <p:cNvPr id="5" name="Содержимое 4" descr="sozdanie-internet-magazin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5947" y="1484086"/>
            <a:ext cx="9219947" cy="537391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b="1" dirty="0" smtClean="0"/>
              <a:t>B2b-</a:t>
            </a:r>
            <a:r>
              <a:rPr lang="ru-RU" sz="8000" b="1" dirty="0" smtClean="0"/>
              <a:t>сектор</a:t>
            </a:r>
            <a:endParaRPr lang="ru-RU" sz="8000" dirty="0"/>
          </a:p>
        </p:txBody>
      </p:sp>
      <p:pic>
        <p:nvPicPr>
          <p:cNvPr id="8" name="Содержимое 7" descr="rUBng_dxJm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1142985"/>
            <a:ext cx="8148887" cy="54370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Для кого </a:t>
            </a:r>
            <a:r>
              <a:rPr lang="en-US" sz="6500" b="1" dirty="0" smtClean="0"/>
              <a:t>SMM </a:t>
            </a:r>
            <a:r>
              <a:rPr lang="ru-RU" sz="6500" b="1" dirty="0" smtClean="0"/>
              <a:t/>
            </a:r>
            <a:br>
              <a:rPr lang="ru-RU" sz="6500" b="1" dirty="0" smtClean="0"/>
            </a:br>
            <a:r>
              <a:rPr lang="ru-RU" sz="6500" b="1" dirty="0" smtClean="0"/>
              <a:t>неэффективен</a:t>
            </a:r>
            <a:endParaRPr lang="ru-RU" sz="6500" dirty="0"/>
          </a:p>
        </p:txBody>
      </p:sp>
      <p:pic>
        <p:nvPicPr>
          <p:cNvPr id="4" name="Содержимое 3" descr="biznes_-_malchikov_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166" y="1787183"/>
            <a:ext cx="6143668" cy="507081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300" b="1" dirty="0" smtClean="0"/>
              <a:t>Узкоспециальный </a:t>
            </a:r>
            <a:r>
              <a:rPr lang="en-US" sz="6300" b="1" dirty="0" smtClean="0"/>
              <a:t>B2b</a:t>
            </a:r>
            <a:endParaRPr lang="ru-RU" sz="6300" dirty="0"/>
          </a:p>
        </p:txBody>
      </p:sp>
      <p:pic>
        <p:nvPicPr>
          <p:cNvPr id="4" name="Содержимое 3" descr="turboatom1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977" y="1357298"/>
            <a:ext cx="7048548" cy="52864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Бизнес со спонтанными</a:t>
            </a:r>
            <a:br>
              <a:rPr lang="ru-RU" sz="6000" b="1" dirty="0" smtClean="0"/>
            </a:br>
            <a:r>
              <a:rPr lang="ru-RU" sz="6000" b="1" dirty="0" smtClean="0"/>
              <a:t>продажами</a:t>
            </a:r>
            <a:endParaRPr lang="ru-RU" sz="6000" dirty="0"/>
          </a:p>
        </p:txBody>
      </p:sp>
      <p:pic>
        <p:nvPicPr>
          <p:cNvPr id="6" name="Содержимое 5" descr="taksi-lobny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2285968"/>
            <a:ext cx="8489184" cy="45720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8000" b="1" dirty="0" smtClean="0"/>
              <a:t>Мифы об </a:t>
            </a:r>
            <a:r>
              <a:rPr lang="en-US" sz="8000" b="1" dirty="0" smtClean="0"/>
              <a:t>SMM</a:t>
            </a:r>
            <a:endParaRPr lang="ru-RU" sz="8000" dirty="0"/>
          </a:p>
        </p:txBody>
      </p:sp>
      <p:pic>
        <p:nvPicPr>
          <p:cNvPr id="4" name="Содержимое 3" descr="SM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1517106"/>
            <a:ext cx="8072494" cy="534089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7300" b="1" dirty="0" smtClean="0"/>
              <a:t>SMM – </a:t>
            </a:r>
            <a:r>
              <a:rPr lang="ru-RU" sz="7300" b="1" dirty="0" smtClean="0"/>
              <a:t>это дорого</a:t>
            </a:r>
            <a:endParaRPr lang="ru-RU" sz="7300" b="1" dirty="0"/>
          </a:p>
        </p:txBody>
      </p:sp>
      <p:pic>
        <p:nvPicPr>
          <p:cNvPr id="4" name="Содержимое 3" descr="p12110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414" y="1204832"/>
            <a:ext cx="6357982" cy="563317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В соц. сетях сидят </a:t>
            </a:r>
            <a:br>
              <a:rPr lang="ru-RU" sz="6500" b="1" dirty="0" smtClean="0"/>
            </a:br>
            <a:r>
              <a:rPr lang="ru-RU" sz="6500" b="1" dirty="0" smtClean="0"/>
              <a:t>только дети</a:t>
            </a:r>
            <a:endParaRPr lang="ru-RU" sz="6500" b="1" dirty="0"/>
          </a:p>
        </p:txBody>
      </p:sp>
      <p:pic>
        <p:nvPicPr>
          <p:cNvPr id="5" name="Содержимое 4" descr="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20554"/>
            <a:ext cx="9144000" cy="431695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В соц.сетях ничего </a:t>
            </a:r>
            <a:br>
              <a:rPr lang="ru-RU" sz="6500" b="1" dirty="0" smtClean="0"/>
            </a:br>
            <a:r>
              <a:rPr lang="ru-RU" sz="6500" b="1" dirty="0" smtClean="0"/>
              <a:t>не покупают</a:t>
            </a:r>
            <a:endParaRPr lang="ru-RU" sz="6500" b="1" dirty="0"/>
          </a:p>
        </p:txBody>
      </p:sp>
      <p:pic>
        <p:nvPicPr>
          <p:cNvPr id="4" name="Содержимое 3" descr="v-mire-grustit-odin-kotik_89264099_orig_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991247"/>
            <a:ext cx="7715272" cy="48667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300" b="1" dirty="0" smtClean="0"/>
              <a:t>Эффективность </a:t>
            </a:r>
            <a:r>
              <a:rPr lang="en-US" sz="6300" b="1" dirty="0" smtClean="0"/>
              <a:t>SMM</a:t>
            </a:r>
            <a:r>
              <a:rPr lang="ru-RU" sz="6300" b="1" dirty="0" smtClean="0"/>
              <a:t> </a:t>
            </a:r>
            <a:r>
              <a:rPr lang="en-US" sz="6300" b="1" dirty="0" smtClean="0"/>
              <a:t/>
            </a:r>
            <a:br>
              <a:rPr lang="en-US" sz="6300" b="1" dirty="0" smtClean="0"/>
            </a:br>
            <a:r>
              <a:rPr lang="ru-RU" sz="6300" b="1" dirty="0" smtClean="0"/>
              <a:t>нельзя посчитать</a:t>
            </a:r>
            <a:endParaRPr lang="ru-RU" sz="6300" b="1" dirty="0"/>
          </a:p>
        </p:txBody>
      </p:sp>
      <p:pic>
        <p:nvPicPr>
          <p:cNvPr id="4" name="Содержимое 3" descr="b7ff0c568a268ba9070a80460553fd6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977" y="1643050"/>
            <a:ext cx="6025677" cy="52149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700" b="1" dirty="0" smtClean="0"/>
              <a:t>Стратегия продвижения </a:t>
            </a:r>
            <a:br>
              <a:rPr lang="ru-RU" sz="5700" b="1" dirty="0" smtClean="0"/>
            </a:br>
            <a:r>
              <a:rPr lang="ru-RU" sz="5700" b="1" dirty="0" smtClean="0"/>
              <a:t>в соц. сетях</a:t>
            </a:r>
            <a:endParaRPr lang="ru-RU" sz="5700" dirty="0"/>
          </a:p>
        </p:txBody>
      </p:sp>
      <p:pic>
        <p:nvPicPr>
          <p:cNvPr id="4" name="Содержимое 3" descr="0Nk1TsC1sZk[1]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38" y="1755358"/>
            <a:ext cx="6803522" cy="510264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300" b="1" dirty="0" smtClean="0"/>
              <a:t>Определение задач </a:t>
            </a:r>
            <a:r>
              <a:rPr lang="en-US" sz="6300" b="1" dirty="0" smtClean="0"/>
              <a:t>SMM</a:t>
            </a:r>
            <a:r>
              <a:rPr lang="ru-RU" sz="6300" b="1" dirty="0" smtClean="0"/>
              <a:t>-кампании</a:t>
            </a:r>
            <a:endParaRPr lang="ru-RU" sz="6300" dirty="0"/>
          </a:p>
        </p:txBody>
      </p:sp>
      <p:pic>
        <p:nvPicPr>
          <p:cNvPr id="4" name="Содержимое 3" descr="планирование_целей-plan_celey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785926"/>
            <a:ext cx="7314066" cy="487604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7500" b="1" dirty="0" smtClean="0"/>
              <a:t>Определение ЦА</a:t>
            </a:r>
            <a:endParaRPr lang="ru-RU" sz="7500" dirty="0"/>
          </a:p>
        </p:txBody>
      </p:sp>
      <p:pic>
        <p:nvPicPr>
          <p:cNvPr id="4" name="Содержимое 3" descr="cpa-партнерки-600x353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1643050"/>
            <a:ext cx="8378281" cy="492922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Параметры целевой аудитории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988840"/>
            <a:ext cx="8229600" cy="4525963"/>
          </a:xfrm>
        </p:spPr>
        <p:txBody>
          <a:bodyPr>
            <a:normAutofit/>
          </a:bodyPr>
          <a:lstStyle/>
          <a:p>
            <a:r>
              <a:rPr lang="ru-RU" sz="4400" dirty="0" smtClean="0"/>
              <a:t>География</a:t>
            </a:r>
          </a:p>
          <a:p>
            <a:r>
              <a:rPr lang="ru-RU" sz="4400" dirty="0" smtClean="0"/>
              <a:t>Социально-демографические: пол, возраст, семейное положение, должность, образование, уровень дохода</a:t>
            </a:r>
          </a:p>
          <a:p>
            <a:r>
              <a:rPr lang="ru-RU" sz="4400" dirty="0" smtClean="0"/>
              <a:t>Интересы, увлечения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47286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smtClean="0"/>
              <a:t>Подбор соц. площадок</a:t>
            </a:r>
            <a:br>
              <a:rPr lang="ru-RU" sz="6000" b="1" dirty="0" smtClean="0"/>
            </a:br>
            <a:r>
              <a:rPr lang="ru-RU" sz="6000" b="1" dirty="0" smtClean="0"/>
              <a:t>с вашей ЦА</a:t>
            </a:r>
            <a:endParaRPr lang="ru-RU" sz="6000" dirty="0"/>
          </a:p>
        </p:txBody>
      </p:sp>
      <p:pic>
        <p:nvPicPr>
          <p:cNvPr id="4" name="Содержимое 3" descr="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937787"/>
            <a:ext cx="8465660" cy="49202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Autofit/>
          </a:bodyPr>
          <a:lstStyle/>
          <a:p>
            <a:r>
              <a:rPr lang="ru-RU" sz="7200" b="1" dirty="0" smtClean="0"/>
              <a:t>КОНТЕНТ - КОРОЛЬ</a:t>
            </a:r>
            <a:endParaRPr lang="ru-RU" sz="72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47825"/>
            <a:ext cx="8136904" cy="5410175"/>
          </a:xfrm>
        </p:spPr>
      </p:pic>
    </p:spTree>
    <p:extLst>
      <p:ext uri="{BB962C8B-B14F-4D97-AF65-F5344CB8AC3E}">
        <p14:creationId xmlns:p14="http://schemas.microsoft.com/office/powerpoint/2010/main" val="37055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>
            <a:noAutofit/>
          </a:bodyPr>
          <a:lstStyle/>
          <a:p>
            <a:r>
              <a:rPr lang="ru-RU" b="1" dirty="0" smtClean="0"/>
              <a:t>Найти баланс между вашим видением контента и интересами подписчиков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24778"/>
            <a:ext cx="7626506" cy="4633222"/>
          </a:xfrm>
        </p:spPr>
      </p:pic>
    </p:spTree>
    <p:extLst>
      <p:ext uri="{BB962C8B-B14F-4D97-AF65-F5344CB8AC3E}">
        <p14:creationId xmlns:p14="http://schemas.microsoft.com/office/powerpoint/2010/main" val="175832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Источники для анализа контента:</a:t>
            </a:r>
            <a:endParaRPr lang="ru-RU" sz="5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988840"/>
            <a:ext cx="8229600" cy="4525963"/>
          </a:xfrm>
        </p:spPr>
        <p:txBody>
          <a:bodyPr>
            <a:noAutofit/>
          </a:bodyPr>
          <a:lstStyle/>
          <a:p>
            <a:r>
              <a:rPr lang="ru-RU" sz="4000" dirty="0" smtClean="0"/>
              <a:t>Анализ страниц конкурентов;</a:t>
            </a:r>
          </a:p>
          <a:p>
            <a:r>
              <a:rPr lang="ru-RU" sz="4000" dirty="0" smtClean="0"/>
              <a:t>Анализ социальных профилей вашей ЦА;</a:t>
            </a:r>
          </a:p>
          <a:p>
            <a:r>
              <a:rPr lang="ru-RU" sz="4000" dirty="0" smtClean="0"/>
              <a:t>Использование текущей аналитики постов;</a:t>
            </a:r>
          </a:p>
          <a:p>
            <a:r>
              <a:rPr lang="ru-RU" sz="4000" dirty="0" smtClean="0"/>
              <a:t>Использование социального поиска на </a:t>
            </a:r>
            <a:r>
              <a:rPr lang="en-US" sz="4000" dirty="0" smtClean="0"/>
              <a:t>Facebook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99605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ru-RU" sz="6600" b="1" dirty="0" smtClean="0"/>
              <a:t>Вводим в строку поиска:</a:t>
            </a:r>
            <a:endParaRPr lang="ru-RU" sz="6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r>
              <a:rPr lang="en-US" sz="4800" dirty="0" smtClean="0"/>
              <a:t>Interests liked by people </a:t>
            </a:r>
          </a:p>
          <a:p>
            <a:pPr>
              <a:buNone/>
            </a:pPr>
            <a:r>
              <a:rPr lang="en-US" sz="4800" dirty="0" smtClean="0"/>
              <a:t>   who like </a:t>
            </a:r>
            <a:r>
              <a:rPr lang="ru-RU" sz="4800" dirty="0" smtClean="0"/>
              <a:t>Название</a:t>
            </a:r>
            <a:r>
              <a:rPr lang="en-US" sz="4800" dirty="0" smtClean="0"/>
              <a:t> </a:t>
            </a:r>
            <a:r>
              <a:rPr lang="ru-RU" sz="4800" dirty="0" smtClean="0"/>
              <a:t>страницы</a:t>
            </a:r>
            <a:endParaRPr lang="en-US" sz="4800" dirty="0" smtClean="0"/>
          </a:p>
          <a:p>
            <a:r>
              <a:rPr lang="en-US" sz="4800" dirty="0" smtClean="0"/>
              <a:t>Pages liked by people who like </a:t>
            </a:r>
            <a:r>
              <a:rPr lang="ru-RU" sz="4800" dirty="0" smtClean="0"/>
              <a:t>Название страницы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18478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500" b="1" dirty="0" smtClean="0"/>
              <a:t>Разработка </a:t>
            </a:r>
            <a:r>
              <a:rPr lang="ru-RU" sz="6500" b="1" dirty="0" err="1" smtClean="0"/>
              <a:t>контент-стратегии</a:t>
            </a:r>
            <a:endParaRPr lang="ru-RU" sz="6500" dirty="0"/>
          </a:p>
        </p:txBody>
      </p:sp>
      <p:pic>
        <p:nvPicPr>
          <p:cNvPr id="7" name="Содержимое 6" descr="Content-Strategy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0240"/>
            <a:ext cx="9144000" cy="444565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dirty="0" smtClean="0"/>
              <a:t>Категории контента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Autofit/>
          </a:bodyPr>
          <a:lstStyle/>
          <a:p>
            <a:r>
              <a:rPr lang="ru-RU" sz="3400" dirty="0" smtClean="0"/>
              <a:t>Юмор</a:t>
            </a:r>
          </a:p>
          <a:p>
            <a:r>
              <a:rPr lang="ru-RU" sz="3400" dirty="0" err="1" smtClean="0"/>
              <a:t>Инфографика</a:t>
            </a:r>
            <a:endParaRPr lang="ru-RU" sz="3400" dirty="0" smtClean="0"/>
          </a:p>
          <a:p>
            <a:r>
              <a:rPr lang="ru-RU" sz="3400" dirty="0" smtClean="0"/>
              <a:t>Тематические подборки</a:t>
            </a:r>
          </a:p>
          <a:p>
            <a:r>
              <a:rPr lang="ru-RU" sz="3400" dirty="0" smtClean="0"/>
              <a:t>Полезные советы</a:t>
            </a:r>
          </a:p>
          <a:p>
            <a:r>
              <a:rPr lang="ru-RU" sz="3400" dirty="0" smtClean="0"/>
              <a:t>Новости индустрии</a:t>
            </a:r>
          </a:p>
          <a:p>
            <a:r>
              <a:rPr lang="ru-RU" sz="3400" dirty="0" smtClean="0"/>
              <a:t>Конкурсы</a:t>
            </a:r>
          </a:p>
          <a:p>
            <a:r>
              <a:rPr lang="ru-RU" sz="3400" dirty="0" err="1" smtClean="0"/>
              <a:t>Видеоуроки</a:t>
            </a:r>
            <a:endParaRPr lang="ru-RU" sz="3400" dirty="0" smtClean="0"/>
          </a:p>
          <a:p>
            <a:r>
              <a:rPr lang="ru-RU" sz="3400" dirty="0" smtClean="0"/>
              <a:t>Коммерческие посты</a:t>
            </a:r>
            <a:endParaRPr lang="ru-RU" sz="3400" dirty="0"/>
          </a:p>
        </p:txBody>
      </p:sp>
    </p:spTree>
    <p:extLst>
      <p:ext uri="{BB962C8B-B14F-4D97-AF65-F5344CB8AC3E}">
        <p14:creationId xmlns:p14="http://schemas.microsoft.com/office/powerpoint/2010/main" val="251812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>
            <a:normAutofit/>
          </a:bodyPr>
          <a:lstStyle/>
          <a:p>
            <a:r>
              <a:rPr lang="ru-RU" sz="5400" b="1" dirty="0" smtClean="0"/>
              <a:t>Пост «</a:t>
            </a:r>
            <a:r>
              <a:rPr lang="ru-RU" sz="5400" b="1" dirty="0" err="1" smtClean="0"/>
              <a:t>Инфографика</a:t>
            </a:r>
            <a:r>
              <a:rPr lang="ru-RU" sz="5400" b="1" dirty="0" smtClean="0"/>
              <a:t>»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268760"/>
            <a:ext cx="5612372" cy="5257800"/>
          </a:xfrm>
        </p:spPr>
      </p:pic>
    </p:spTree>
    <p:extLst>
      <p:ext uri="{BB962C8B-B14F-4D97-AF65-F5344CB8AC3E}">
        <p14:creationId xmlns:p14="http://schemas.microsoft.com/office/powerpoint/2010/main" val="365262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sz="5400" b="1" dirty="0" smtClean="0"/>
              <a:t>Пост «Тематические подборки»</a:t>
            </a:r>
            <a:endParaRPr lang="ru-RU" sz="54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340560"/>
            <a:ext cx="4752528" cy="5370744"/>
          </a:xfrm>
        </p:spPr>
      </p:pic>
    </p:spTree>
    <p:extLst>
      <p:ext uri="{BB962C8B-B14F-4D97-AF65-F5344CB8AC3E}">
        <p14:creationId xmlns:p14="http://schemas.microsoft.com/office/powerpoint/2010/main" val="413530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800" b="1" dirty="0" smtClean="0"/>
              <a:t>Определение категорий </a:t>
            </a:r>
            <a:br>
              <a:rPr lang="ru-RU" sz="5800" b="1" dirty="0" smtClean="0"/>
            </a:br>
            <a:r>
              <a:rPr lang="ru-RU" sz="5800" b="1" dirty="0" err="1" smtClean="0"/>
              <a:t>контента</a:t>
            </a:r>
            <a:endParaRPr lang="ru-RU" sz="5800" b="1" dirty="0"/>
          </a:p>
        </p:txBody>
      </p:sp>
      <p:pic>
        <p:nvPicPr>
          <p:cNvPr id="4" name="Содержимое 3" descr="Content-Marketing-Ideas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857364"/>
            <a:ext cx="7500955" cy="500063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300" b="1" dirty="0" smtClean="0"/>
              <a:t>Частота и время </a:t>
            </a:r>
            <a:br>
              <a:rPr lang="ru-RU" sz="6300" b="1" dirty="0" smtClean="0"/>
            </a:br>
            <a:r>
              <a:rPr lang="ru-RU" sz="6300" b="1" dirty="0" smtClean="0"/>
              <a:t>публикации постов</a:t>
            </a:r>
            <a:endParaRPr lang="ru-RU" sz="6300" b="1" dirty="0"/>
          </a:p>
        </p:txBody>
      </p:sp>
      <p:pic>
        <p:nvPicPr>
          <p:cNvPr id="8" name="Содержимое 7" descr="bigstock-Time-To-Plan-4333448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1950915"/>
            <a:ext cx="7358328" cy="490708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dirty="0" smtClean="0">
                <a:hlinkClick r:id="rId2"/>
              </a:rPr>
              <a:t>Шаблон </a:t>
            </a:r>
            <a:r>
              <a:rPr lang="ru-RU" sz="6000" b="1" dirty="0" err="1" smtClean="0">
                <a:hlinkClick r:id="rId2"/>
              </a:rPr>
              <a:t>контент-плана</a:t>
            </a:r>
            <a:endParaRPr lang="ru-RU" sz="6000" b="1" dirty="0"/>
          </a:p>
        </p:txBody>
      </p:sp>
      <p:pic>
        <p:nvPicPr>
          <p:cNvPr id="4" name="Содержимое 3" descr="5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4041" y="1798883"/>
            <a:ext cx="9178041" cy="505911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100" b="1" dirty="0" smtClean="0"/>
              <a:t>Сервисы отложенного </a:t>
            </a:r>
            <a:br>
              <a:rPr lang="ru-RU" sz="6100" b="1" dirty="0" smtClean="0"/>
            </a:br>
            <a:r>
              <a:rPr lang="ru-RU" sz="6100" b="1" dirty="0" err="1" smtClean="0"/>
              <a:t>постинга</a:t>
            </a:r>
            <a:endParaRPr lang="ru-RU" sz="61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5000" b="1" dirty="0" smtClean="0">
              <a:hlinkClick r:id="rId3"/>
            </a:endParaRPr>
          </a:p>
          <a:p>
            <a:r>
              <a:rPr lang="en-US" sz="5000" b="1" dirty="0" err="1" smtClean="0">
                <a:hlinkClick r:id="rId3"/>
              </a:rPr>
              <a:t>Feedman</a:t>
            </a:r>
            <a:endParaRPr lang="ru-RU" sz="5000" b="1" dirty="0" smtClean="0"/>
          </a:p>
          <a:p>
            <a:r>
              <a:rPr lang="en-US" sz="5000" b="1" dirty="0" smtClean="0">
                <a:hlinkClick r:id="rId4"/>
              </a:rPr>
              <a:t>Time2Post</a:t>
            </a:r>
            <a:endParaRPr lang="en-US" sz="5000" b="1" dirty="0" smtClean="0"/>
          </a:p>
          <a:p>
            <a:r>
              <a:rPr lang="en-US" sz="5000" b="1" dirty="0" err="1" smtClean="0">
                <a:hlinkClick r:id="rId5"/>
              </a:rPr>
              <a:t>Sociate</a:t>
            </a:r>
            <a:endParaRPr lang="en-US" sz="5000" b="1" dirty="0" smtClean="0"/>
          </a:p>
          <a:p>
            <a:r>
              <a:rPr lang="en-US" sz="5000" b="1" dirty="0" err="1" smtClean="0">
                <a:hlinkClick r:id="rId6"/>
              </a:rPr>
              <a:t>SMMPlanner</a:t>
            </a:r>
            <a:endParaRPr lang="en-US" sz="5000" b="1" dirty="0" smtClean="0"/>
          </a:p>
          <a:p>
            <a:endParaRPr lang="ru-RU" sz="5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 smtClean="0"/>
              <a:t>UTM</a:t>
            </a:r>
            <a:r>
              <a:rPr lang="ru-RU" sz="7200" b="1" dirty="0" smtClean="0"/>
              <a:t>-метки</a:t>
            </a:r>
            <a:endParaRPr lang="uk-UA" sz="72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" y="2362200"/>
            <a:ext cx="9147413" cy="3283687"/>
          </a:xfrm>
        </p:spPr>
      </p:pic>
    </p:spTree>
    <p:extLst>
      <p:ext uri="{BB962C8B-B14F-4D97-AF65-F5344CB8AC3E}">
        <p14:creationId xmlns:p14="http://schemas.microsoft.com/office/powerpoint/2010/main" val="347014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Обязательные параметры </a:t>
            </a:r>
            <a:r>
              <a:rPr lang="en-US" sz="5400" b="1" dirty="0" smtClean="0"/>
              <a:t>UTM</a:t>
            </a:r>
            <a:r>
              <a:rPr lang="ru-RU" sz="5400" b="1" dirty="0" smtClean="0"/>
              <a:t>-меток</a:t>
            </a:r>
            <a:endParaRPr lang="ru-RU" sz="54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15177"/>
            <a:ext cx="7239000" cy="4942823"/>
          </a:xfrm>
        </p:spPr>
      </p:pic>
    </p:spTree>
    <p:extLst>
      <p:ext uri="{BB962C8B-B14F-4D97-AF65-F5344CB8AC3E}">
        <p14:creationId xmlns:p14="http://schemas.microsoft.com/office/powerpoint/2010/main" val="167160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b="1" dirty="0" smtClean="0"/>
              <a:t>Опциональные параметры </a:t>
            </a:r>
            <a:r>
              <a:rPr lang="en-US" sz="5400" b="1" dirty="0" smtClean="0"/>
              <a:t>UTM</a:t>
            </a:r>
            <a:r>
              <a:rPr lang="ru-RU" sz="5400" b="1" dirty="0" smtClean="0"/>
              <a:t>-меток</a:t>
            </a:r>
            <a:endParaRPr lang="ru-RU" sz="5400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7000"/>
            <a:ext cx="8322417" cy="3471231"/>
          </a:xfrm>
        </p:spPr>
      </p:pic>
    </p:spTree>
    <p:extLst>
      <p:ext uri="{BB962C8B-B14F-4D97-AF65-F5344CB8AC3E}">
        <p14:creationId xmlns:p14="http://schemas.microsoft.com/office/powerpoint/2010/main" val="361336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>
            <a:noAutofit/>
          </a:bodyPr>
          <a:lstStyle/>
          <a:p>
            <a:r>
              <a:rPr lang="ru-RU" sz="6600" b="1" dirty="0" smtClean="0"/>
              <a:t>Генераторы </a:t>
            </a:r>
            <a:r>
              <a:rPr lang="en-US" sz="6600" b="1" dirty="0" smtClean="0"/>
              <a:t>UTM</a:t>
            </a:r>
            <a:r>
              <a:rPr lang="ru-RU" sz="6600" b="1" dirty="0" smtClean="0"/>
              <a:t>-меток</a:t>
            </a:r>
            <a:endParaRPr lang="ru-RU" sz="6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2332037"/>
            <a:ext cx="8229600" cy="4525963"/>
          </a:xfrm>
        </p:spPr>
        <p:txBody>
          <a:bodyPr>
            <a:normAutofit/>
          </a:bodyPr>
          <a:lstStyle/>
          <a:p>
            <a:r>
              <a:rPr lang="ru-RU" sz="6000" dirty="0" smtClean="0">
                <a:hlinkClick r:id="rId3"/>
              </a:rPr>
              <a:t>Компоновщик </a:t>
            </a:r>
            <a:r>
              <a:rPr lang="en-US" sz="6000" dirty="0" smtClean="0">
                <a:hlinkClick r:id="rId3"/>
              </a:rPr>
              <a:t>URL</a:t>
            </a:r>
            <a:r>
              <a:rPr lang="ru-RU" sz="6000" dirty="0" smtClean="0">
                <a:hlinkClick r:id="rId3"/>
              </a:rPr>
              <a:t> от </a:t>
            </a:r>
            <a:r>
              <a:rPr lang="en-US" sz="6000" dirty="0" smtClean="0">
                <a:hlinkClick r:id="rId3"/>
              </a:rPr>
              <a:t>Google</a:t>
            </a:r>
            <a:endParaRPr lang="en-US" sz="6000" dirty="0" smtClean="0"/>
          </a:p>
          <a:p>
            <a:r>
              <a:rPr lang="en-US" sz="6000" dirty="0" err="1" smtClean="0">
                <a:hlinkClick r:id="rId4"/>
              </a:rPr>
              <a:t>Tools.Yaroshenko</a:t>
            </a:r>
            <a:endParaRPr lang="en-US" sz="6000" dirty="0" smtClean="0"/>
          </a:p>
          <a:p>
            <a:r>
              <a:rPr lang="en-US" sz="6000" dirty="0" err="1" smtClean="0">
                <a:hlinkClick r:id="rId5"/>
              </a:rPr>
              <a:t>UTMurl</a:t>
            </a:r>
            <a:endParaRPr lang="en-US" sz="6000" dirty="0" smtClean="0"/>
          </a:p>
          <a:p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52421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b="1" dirty="0" smtClean="0"/>
              <a:t>Домашнее задание</a:t>
            </a:r>
            <a:endParaRPr lang="ru-RU" sz="66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Определить задачи продвижения в </a:t>
            </a:r>
            <a:r>
              <a:rPr lang="en-US" sz="4000" dirty="0" smtClean="0"/>
              <a:t>SMM</a:t>
            </a:r>
            <a:r>
              <a:rPr lang="ru-RU" sz="4000" dirty="0" smtClean="0"/>
              <a:t> вашего бизнеса</a:t>
            </a:r>
          </a:p>
          <a:p>
            <a:r>
              <a:rPr lang="ru-RU" sz="4000" dirty="0" smtClean="0"/>
              <a:t>Определить ЦА</a:t>
            </a:r>
          </a:p>
          <a:p>
            <a:r>
              <a:rPr lang="ru-RU" sz="4000" dirty="0" smtClean="0"/>
              <a:t>Определить соц. площадки с вашей ЦА</a:t>
            </a:r>
          </a:p>
          <a:p>
            <a:r>
              <a:rPr lang="ru-RU" sz="4000" dirty="0" smtClean="0"/>
              <a:t>Разработать </a:t>
            </a:r>
            <a:r>
              <a:rPr lang="ru-RU" sz="4000" dirty="0" err="1" smtClean="0"/>
              <a:t>контент-план</a:t>
            </a:r>
            <a:endParaRPr lang="ru-RU" sz="4000" dirty="0" smtClean="0"/>
          </a:p>
          <a:p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250</Words>
  <Application>Microsoft Office PowerPoint</Application>
  <PresentationFormat>Экран (4:3)</PresentationFormat>
  <Paragraphs>81</Paragraphs>
  <Slides>51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2" baseType="lpstr">
      <vt:lpstr>Тема Office</vt:lpstr>
      <vt:lpstr>Часть 1. SMM (Основы продвижение в соц. сетях)</vt:lpstr>
      <vt:lpstr>Что такое SMM?</vt:lpstr>
      <vt:lpstr>Ключевые проекты уанета</vt:lpstr>
      <vt:lpstr>Дети в семье у пользователей соц. сетей</vt:lpstr>
      <vt:lpstr>Уровень достатка у пользователей соц. сетей</vt:lpstr>
      <vt:lpstr>Потребление других медиа</vt:lpstr>
      <vt:lpstr>Аудитория соц. сетей</vt:lpstr>
      <vt:lpstr>Задачи социального маркетинга</vt:lpstr>
      <vt:lpstr>Продажи</vt:lpstr>
      <vt:lpstr>Трафик на сайт</vt:lpstr>
      <vt:lpstr>Брендинг</vt:lpstr>
      <vt:lpstr>Повторные продажи</vt:lpstr>
      <vt:lpstr>Преимущества  социальных сетей</vt:lpstr>
      <vt:lpstr>Сарафанное радио</vt:lpstr>
      <vt:lpstr>Узкий таргетинг</vt:lpstr>
      <vt:lpstr>Обратная связь</vt:lpstr>
      <vt:lpstr>Кому подходит SMM?</vt:lpstr>
      <vt:lpstr>Крупный бизнес</vt:lpstr>
      <vt:lpstr>Средний и малый бизнес</vt:lpstr>
      <vt:lpstr>Интернет-бизнес</vt:lpstr>
      <vt:lpstr>B2b-сектор</vt:lpstr>
      <vt:lpstr>Для кого SMM  неэффективен</vt:lpstr>
      <vt:lpstr>Узкоспециальный B2b</vt:lpstr>
      <vt:lpstr>Бизнес со спонтанными продажами</vt:lpstr>
      <vt:lpstr>Мифы об SMM</vt:lpstr>
      <vt:lpstr>SMM – это дорого</vt:lpstr>
      <vt:lpstr>В соц. сетях сидят  только дети</vt:lpstr>
      <vt:lpstr>В соц.сетях ничего  не покупают</vt:lpstr>
      <vt:lpstr>Эффективность SMM  нельзя посчитать</vt:lpstr>
      <vt:lpstr>Стратегия продвижения  в соц. сетях</vt:lpstr>
      <vt:lpstr>Определение задач SMM-кампании</vt:lpstr>
      <vt:lpstr>Определение ЦА</vt:lpstr>
      <vt:lpstr>Параметры целевой аудитории</vt:lpstr>
      <vt:lpstr>Подбор соц. площадок с вашей ЦА</vt:lpstr>
      <vt:lpstr>КОНТЕНТ - КОРОЛЬ</vt:lpstr>
      <vt:lpstr>Найти баланс между вашим видением контента и интересами подписчиков</vt:lpstr>
      <vt:lpstr>Источники для анализа контента:</vt:lpstr>
      <vt:lpstr>Вводим в строку поиска:</vt:lpstr>
      <vt:lpstr>Разработка контент-стратегии</vt:lpstr>
      <vt:lpstr>Категории контента</vt:lpstr>
      <vt:lpstr>Пост «Инфографика»</vt:lpstr>
      <vt:lpstr>Пост «Тематические подборки»</vt:lpstr>
      <vt:lpstr>Определение категорий  контента</vt:lpstr>
      <vt:lpstr>Частота и время  публикации постов</vt:lpstr>
      <vt:lpstr>Шаблон контент-плана</vt:lpstr>
      <vt:lpstr>Сервисы отложенного  постинга</vt:lpstr>
      <vt:lpstr>UTM-метки</vt:lpstr>
      <vt:lpstr>Обязательные параметры UTM-меток</vt:lpstr>
      <vt:lpstr>Опциональные параметры UTM-меток</vt:lpstr>
      <vt:lpstr>Генераторы UTM-меток</vt:lpstr>
      <vt:lpstr>Домашнее задание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dmgame</dc:creator>
  <cp:lastModifiedBy>user</cp:lastModifiedBy>
  <cp:revision>77</cp:revision>
  <dcterms:created xsi:type="dcterms:W3CDTF">2016-05-11T18:13:59Z</dcterms:created>
  <dcterms:modified xsi:type="dcterms:W3CDTF">2017-06-16T20:11:56Z</dcterms:modified>
</cp:coreProperties>
</file>