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3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4"/>
      <p:bold r:id="rId65"/>
      <p:italic r:id="rId66"/>
      <p:boldItalic r:id="rId67"/>
    </p:embeddedFont>
    <p:embeddedFont>
      <p:font typeface="Nunito" pitchFamily="2" charset="-52"/>
      <p:regular r:id="rId68"/>
      <p:bold r:id="rId69"/>
      <p:italic r:id="rId70"/>
      <p:boldItalic r:id="rId71"/>
    </p:embeddedFont>
    <p:embeddedFont>
      <p:font typeface="Trebuchet MS" panose="020B060302020202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font" Target="fonts/font7.fntdata"/><Relationship Id="rId71" Type="http://schemas.openxmlformats.org/officeDocument/2006/relationships/font" Target="fonts/font8.fntdata"/><Relationship Id="rId72" Type="http://schemas.openxmlformats.org/officeDocument/2006/relationships/font" Target="fonts/font9.fntdata"/><Relationship Id="rId73" Type="http://schemas.openxmlformats.org/officeDocument/2006/relationships/font" Target="fonts/font10.fntdata"/><Relationship Id="rId74" Type="http://schemas.openxmlformats.org/officeDocument/2006/relationships/font" Target="fonts/font11.fntdata"/><Relationship Id="rId75" Type="http://schemas.openxmlformats.org/officeDocument/2006/relationships/font" Target="fonts/font12.fnt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Тема 5: Мобильный маркетинг и адаптация сайта. Мобильная стратегия, Core Web Vitals и адаптивная вёрстка.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Попросите студентов открыть свой сайт на телефоне и за минуту найти три неудобства.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Задание в формате Word можно скачать на сайте практики. Разберите с группой «Пример выполнения» в первом пункте.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agespeed.web.dev/" TargetMode="External"/><Relationship Id="rId3" Type="http://schemas.openxmlformats.org/officeDocument/2006/relationships/hyperlink" Target="https://web.dev/articles/defining-core-web-vitals-thresholds" TargetMode="External"/><Relationship Id="rId4" Type="http://schemas.openxmlformats.org/officeDocument/2006/relationships/hyperlink" Target="https://developer.chrome.com/docs/devtools/device-mode" TargetMode="External"/><Relationship Id="rId5" Type="http://schemas.openxmlformats.org/officeDocument/2006/relationships/hyperlink" Target="https://developer.mozilla.org/ru/docs/Web/CSS/CSS_media_queries/Using_media_queries" TargetMode="External"/><Relationship Id="rId6" Type="http://schemas.openxmlformats.org/officeDocument/2006/relationships/hyperlink" Target="https://squoosh.app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5920"/>
            <a:ext cx="7315200" cy="1143000"/>
          </a:xfrm>
        </p:spPr>
        <p:txBody>
          <a:bodyPr anchor="ctr"/>
          <a:lstStyle/>
          <a:p>
            <a:r>
              <a:rPr sz="3400"/>
              <a:t>Мобильный маркетинг и адаптация сайта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548640"/>
          </a:xfrm>
        </p:spPr>
        <p:txBody>
          <a:bodyPr/>
          <a:lstStyle/>
          <a:p>
            <a:r>
              <a:t>Мобильная стратегия, Core Web Vitals и адаптивная вёрстка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96B"/>
                </a:solidFill>
              </a:rPr>
              <a:t>ТЕМА 5 · ЗАНЯТИЯ 13–15 · 02.12 И 09.12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666E"/>
                </a:solidFill>
              </a:rPr>
              <a:t>Учебная практика УП.09.02 «Оптимизация веб-приложений»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План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Мобильная стратегия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64792"/>
            <a:ext cx="384048" cy="384048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Скорость: Core Web Vitals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5144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Адаптивная вёрстка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Изображения и загрузка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5584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Чек-лист мобильного удобства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3444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4173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AF7B51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14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Занятия 13–15 · 02.12 и 09.12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9D2D6"/>
                </a:solidFill>
              </a:rPr>
              <a:t>Практика, видео и тест — на сайте практики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Мобильная стратегия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39903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Кто пользователь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в дороге, одна свободная рука, медленный интернет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9140" y="123444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731" y="13990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1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49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Ключевые действия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0" y="182880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позвонить, построить маршрут, записаться, заказать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8318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27477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477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4777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Инструменты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754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адаптивный сайт, tel:, карты, QR-коды, мессенджеры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9140" y="258318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13731" y="274777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3731" y="27477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274777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Удержание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0" y="317754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PWA и push-уведомления, рассылки только с согласия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Поисковые системы оценивают сайт в первую очередь по мобильной версии (mobile-first индексация).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Core Web Vitals: пороги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1430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796B"/>
                </a:solidFill>
              </a:rPr>
              <a:t>Хорошо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430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4A15A"/>
                </a:solidFill>
              </a:rPr>
              <a:t>Нужно улучшить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1430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Плохо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33A44"/>
                </a:solidFill>
              </a:rPr>
              <a:t>LCP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63040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5666E"/>
                </a:solidFill>
              </a:rPr>
              <a:t>загрузка главного элемента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6304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46304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≤ 2,5 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46304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46304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до 4 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46304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6304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&gt; 4 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40280"/>
            <a:ext cx="914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33A44"/>
                </a:solidFill>
              </a:rPr>
              <a:t>INP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240280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5666E"/>
                </a:solidFill>
              </a:rPr>
              <a:t>отклик на действия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224028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24028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≤ 200 мс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24028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24028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до 500 мс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224028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24028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&gt; 500 мс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17520"/>
            <a:ext cx="914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33A44"/>
                </a:solidFill>
              </a:rPr>
              <a:t>CLS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017520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5666E"/>
                </a:solidFill>
              </a:rPr>
              <a:t>сдвиги макета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01752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1752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≤ 0,1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301752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до 0,25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017520"/>
            <a:ext cx="1737360" cy="621792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017520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&gt; 0,25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Источник порогов — web.dev (Google). Измеряем в Lighthouse (Mobile) и PageSpeed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Адаптивная вёрстка: mobile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5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329184" cy="329184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527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Метатег viewport обязателен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93391"/>
            <a:ext cx="329184" cy="329184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Сначала стили для смартфона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06624"/>
            <a:ext cx="329184" cy="329184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Медиазапросы расширяют макет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9856"/>
            <a:ext cx="329184" cy="329184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Проверяем ширины 360, 414, 768, 1280 px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4069080" cy="3246120"/>
          </a:xfrm>
          <a:prstGeom prst="roundRect">
            <a:avLst>
              <a:gd name="adj" fmla="val 338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&lt;meta name="viewport"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content="width=device-width, initial-scale=1"&gt;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/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.cards { display: grid; gap: 16px;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   grid-template-columns: 1fr; }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/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@media (min-width: 768px) {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.cards { grid-template-columns: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     repeat(2, 1fr); }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Изображения: лёгкие и без сдвигов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329184" cy="329184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527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srcset и sizes — смартфон грузит маленькую версию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93391"/>
            <a:ext cx="329184" cy="329184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WebP / AVIF в 2–3 раза легче JPEG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06624"/>
            <a:ext cx="329184" cy="329184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width и height не дают расти CLS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9856"/>
            <a:ext cx="329184" cy="329184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loading="lazy" — только ниже первого экрана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4069080" cy="3246120"/>
          </a:xfrm>
          <a:prstGeom prst="roundRect">
            <a:avLst>
              <a:gd name="adj" fmla="val 338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&lt;img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src="hero-800.webp"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srcset="hero-480.webp 480w,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    hero-800.webp 800w,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    hero-1600.webp 1600w"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sizes="(max-width: 600px) 100vw, 800px"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width="800" height="450"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alt="Мастер меняет колесо"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loading="lazy"&gt;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Чек-лист мобильного удобства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771650" cy="3017520"/>
          </a:xfrm>
          <a:prstGeom prst="roundRect">
            <a:avLst>
              <a:gd name="adj" fmla="val 619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40589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0796B"/>
                </a:solidFill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40589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горизонтальной прокрутки на 360 px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8890" y="1234440"/>
            <a:ext cx="1771650" cy="3017520"/>
          </a:xfrm>
          <a:prstGeom prst="roundRect">
            <a:avLst>
              <a:gd name="adj" fmla="val 619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31770" y="1417320"/>
            <a:ext cx="140589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563F"/>
                </a:solidFill>
              </a:rPr>
              <a:t>16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1770" y="2286000"/>
            <a:ext cx="140589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минимальный размер основного текста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9140" y="1234440"/>
            <a:ext cx="1771650" cy="3017520"/>
          </a:xfrm>
          <a:prstGeom prst="roundRect">
            <a:avLst>
              <a:gd name="adj" fmla="val 619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2020" y="1417320"/>
            <a:ext cx="140589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C4A15A"/>
                </a:solidFill>
              </a:rPr>
              <a:t>48×48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2020" y="2286000"/>
            <a:ext cx="140589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пикселей — минимальная область нажатия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9390" y="1234440"/>
            <a:ext cx="1771650" cy="3017520"/>
          </a:xfrm>
          <a:prstGeom prst="roundRect">
            <a:avLst>
              <a:gd name="adj" fmla="val 619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2270" y="1417320"/>
            <a:ext cx="140589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3D4594"/>
                </a:solidFill>
              </a:rP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2270" y="2286000"/>
            <a:ext cx="140589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type="tel" и autocomplete для полей форм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Практическая работа 5: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35331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Разработать мобильную стратегию проекта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848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Провести аудит мобильной версии в DevTools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281635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Измерить производительность (Lighthouse Mobile, Core Web Vitals)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1" y="135331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1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Адаптировать интерфейс и оптимизировать загрузку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5151" y="2084832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Провести повторные измерения и сравнить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1" y="281635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1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Сформулировать рекомендации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Работа выполняется на вашем сайте. Изменения кода — коммитами в GitHub, отчёт — со скриншотами.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Вопросы для самопроверки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96B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Какое значение LCP считается хорошим?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563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Что чаще всего вызывает высокий CLS?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4A15A"/>
                </a:solidFill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Без какого метатега мобильный браузер покажет сайт как уменьшенную «десктопную» версию?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D4594"/>
                </a:solidFill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Какой минимальный размер области нажатия рекомендуют для мобильных интерфейсов?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Полный тест с пояснениями к каждому ответу — на сайте практики, в конце страницы темы.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Полезные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10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2"/>
              </a:rPr>
              <a:t>PageSpeed Insights</a:t>
            </a:r>
            <a:r>
              <a:rPr sz="1200" b="0" i="0">
                <a:solidFill>
                  <a:srgbClr val="55666E"/>
                </a:solidFill>
              </a:rPr>
              <a:t>   pagespeed.web.dev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37944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3"/>
              </a:rPr>
              <a:t>web.dev: пороги Core Web Vitals</a:t>
            </a:r>
            <a:r>
              <a:rPr sz="1200" b="0" i="0">
                <a:solidFill>
                  <a:srgbClr val="55666E"/>
                </a:solidFill>
              </a:rPr>
              <a:t>   web.dev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68296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4"/>
              </a:rPr>
              <a:t>Chrome DevTools: Device Mode</a:t>
            </a:r>
            <a:r>
              <a:rPr sz="1200" b="0" i="0">
                <a:solidFill>
                  <a:srgbClr val="55666E"/>
                </a:solidFill>
              </a:rPr>
              <a:t>   developer.chrome.com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35224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5"/>
              </a:rPr>
              <a:t>MDN: медиазапросы</a:t>
            </a:r>
            <a:r>
              <a:rPr sz="1200" b="0" i="0">
                <a:solidFill>
                  <a:srgbClr val="55666E"/>
                </a:solidFill>
              </a:rPr>
              <a:t>   developer.mozilla.org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38728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02152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6"/>
              </a:rPr>
              <a:t>Squoosh</a:t>
            </a:r>
            <a:r>
              <a:rPr sz="1200" b="0" i="0">
                <a:solidFill>
                  <a:srgbClr val="55666E"/>
                </a:solidFill>
              </a:rPr>
              <a:t>   squoosh.app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19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Выполнить практическую работу на своём сайте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719072"/>
            <a:ext cx="411480" cy="41148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Пройти тест для самопроверки на сайте практики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044952"/>
            <a:ext cx="411480" cy="41148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Зафиксировать изменения коммитом в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79" y="3044952"/>
            <a:ext cx="411480" cy="41148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Добавить раздел в итоговый отчёт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3591</Words>
  <Application>Microsoft Office PowerPoint</Application>
  <PresentationFormat>Экран (16:9)</PresentationFormat>
  <Paragraphs>292</Paragraphs>
  <Slides>61</Slides>
  <Notes>61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6" baseType="lpstr">
      <vt:lpstr>Nunito</vt:lpstr>
      <vt:lpstr>Arial</vt:lpstr>
      <vt:lpstr>Trebuchet MS</vt:lpstr>
      <vt:lpstr>Calibri</vt:lpstr>
      <vt:lpstr>Shift</vt:lpstr>
      <vt:lpstr>Контекстная реклама</vt:lpstr>
      <vt:lpstr>Основные термины</vt:lpstr>
      <vt:lpstr>Что такое контекстная реклама</vt:lpstr>
      <vt:lpstr>Презентация PowerPoint</vt:lpstr>
      <vt:lpstr>Какие задачи можно решить с помощью контекстной рекламы?</vt:lpstr>
      <vt:lpstr>Как работает контекстная реклама?</vt:lpstr>
      <vt:lpstr>Презентация PowerPoint</vt:lpstr>
      <vt:lpstr>Виды рекламных кампаний в Яндекс Директ</vt:lpstr>
      <vt:lpstr>Основные типы таргетингов в Яндекс Директ</vt:lpstr>
      <vt:lpstr>Модели оплаты рекламы в Яндекс Директ</vt:lpstr>
      <vt:lpstr>Рекламные форматы в Яндекс Директ</vt:lpstr>
      <vt:lpstr>Главное правило в контекстной рекламе - релевантность!</vt:lpstr>
      <vt:lpstr>Преимущества и недостатки контекстной рекламы</vt:lpstr>
      <vt:lpstr>Основные отличия контекстной рекламы от таргетированной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</vt:lpstr>
      <vt:lpstr>Пример</vt:lpstr>
      <vt:lpstr>Пример</vt:lpstr>
      <vt:lpstr>Основные инструменты которые понадобятся для работы</vt:lpstr>
      <vt:lpstr>Основные сервисы которые  пригодятся в работе</vt:lpstr>
      <vt:lpstr>Основные отличия контекстной рекламы в Яндекс Директ &amp; Google Ads</vt:lpstr>
      <vt:lpstr>Презентация PowerPoint</vt:lpstr>
      <vt:lpstr>Расширения объявлений</vt:lpstr>
      <vt:lpstr>Приоритет минус-фраз</vt:lpstr>
      <vt:lpstr>Скрипты и правила</vt:lpstr>
      <vt:lpstr>Аудитория рекламных систем</vt:lpstr>
      <vt:lpstr>Стратегии назначения ставок</vt:lpstr>
      <vt:lpstr>Презентация PowerPoint</vt:lpstr>
      <vt:lpstr>Что же такое Яндекс Метрика</vt:lpstr>
      <vt:lpstr>Презентация PowerPoint</vt:lpstr>
      <vt:lpstr>Презентация PowerPoint</vt:lpstr>
      <vt:lpstr>Задачи которые можно решить с помощью веб-аналитики</vt:lpstr>
      <vt:lpstr>Что можно делать в Яндекс Метрике</vt:lpstr>
      <vt:lpstr>Подключение Яндекс Метрики к сайту</vt:lpstr>
      <vt:lpstr>Основные инструменты Яндекс Метрики</vt:lpstr>
      <vt:lpstr>Основные показатели в веб-аналитике </vt:lpstr>
      <vt:lpstr>UTM - метки</vt:lpstr>
      <vt:lpstr>Также есть динамические параметры и у каждой рекламной системы они разные. </vt:lpstr>
      <vt:lpstr>Если нет правильно настроенных целей, то нет и аналитики как таковой</vt:lpstr>
      <vt:lpstr>Создание целей в Метрике</vt:lpstr>
      <vt:lpstr>Основные отчеты в Метрике</vt:lpstr>
      <vt:lpstr>Тонкости в веб-аналитике</vt:lpstr>
      <vt:lpstr>Тонкости в веб-аналитике</vt:lpstr>
      <vt:lpstr>Как работать с данными?</vt:lpstr>
      <vt:lpstr>Помните!</vt:lpstr>
      <vt:lpstr>Яндекс.Аудитории</vt:lpstr>
      <vt:lpstr>День - 2</vt:lpstr>
      <vt:lpstr>Настройка рекламной кампании в РСЯ </vt:lpstr>
      <vt:lpstr>Стратегии назначения ставок в РСЯ</vt:lpstr>
      <vt:lpstr>Типы объявлений в РСЯ</vt:lpstr>
      <vt:lpstr>Правила работы с объявлениями в РСЯ</vt:lpstr>
      <vt:lpstr>Основные рекомендации к изображениям в РСЯ</vt:lpstr>
      <vt:lpstr>Как подбирать ключевые фразы в РСЯ</vt:lpstr>
      <vt:lpstr>Практическая часть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5. Мобильный маркетинг и адаптация сайта</dc:title>
  <cp:lastModifiedBy>fish</cp:lastModifiedBy>
  <cp:revision>3</cp:revision>
  <dcterms:modified xsi:type="dcterms:W3CDTF">2026-10-28T08:52:09Z</dcterms:modified>
</cp:coreProperties>
</file>