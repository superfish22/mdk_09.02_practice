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318" r:id="rId2"/>
    <p:sldId id="298" r:id="rId3"/>
    <p:sldId id="320" r:id="rId4"/>
    <p:sldId id="321" r:id="rId5"/>
    <p:sldId id="322" r:id="rId6"/>
    <p:sldId id="303" r:id="rId7"/>
    <p:sldId id="325" r:id="rId8"/>
    <p:sldId id="301" r:id="rId9"/>
    <p:sldId id="323" r:id="rId10"/>
    <p:sldId id="324" r:id="rId11"/>
    <p:sldId id="326" r:id="rId12"/>
    <p:sldId id="367" r:id="rId13"/>
    <p:sldId id="304" r:id="rId14"/>
    <p:sldId id="305" r:id="rId15"/>
    <p:sldId id="306" r:id="rId16"/>
    <p:sldId id="333" r:id="rId17"/>
    <p:sldId id="336" r:id="rId18"/>
    <p:sldId id="347" r:id="rId19"/>
    <p:sldId id="334" r:id="rId20"/>
    <p:sldId id="335" r:id="rId21"/>
    <p:sldId id="368" r:id="rId22"/>
    <p:sldId id="369" r:id="rId23"/>
    <p:sldId id="337" r:id="rId24"/>
    <p:sldId id="338" r:id="rId25"/>
    <p:sldId id="339" r:id="rId26"/>
    <p:sldId id="340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46" r:id="rId37"/>
    <p:sldId id="350" r:id="rId38"/>
    <p:sldId id="341" r:id="rId39"/>
    <p:sldId id="351" r:id="rId40"/>
    <p:sldId id="342" r:id="rId41"/>
    <p:sldId id="343" r:id="rId42"/>
    <p:sldId id="344" r:id="rId43"/>
    <p:sldId id="345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0" r:id="rId53"/>
    <p:sldId id="361" r:id="rId54"/>
    <p:sldId id="362" r:id="rId55"/>
    <p:sldId id="364" r:id="rId56"/>
    <p:sldId id="365" r:id="rId57"/>
    <p:sldId id="366" r:id="rId58"/>
    <p:sldId id="308" r:id="rId5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24" autoAdjust="0"/>
  </p:normalViewPr>
  <p:slideViewPr>
    <p:cSldViewPr>
      <p:cViewPr>
        <p:scale>
          <a:sx n="77" d="100"/>
          <a:sy n="77" d="100"/>
        </p:scale>
        <p:origin x="-11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B90D4-3215-494F-B4F7-DBBF70ABFF1D}" type="datetimeFigureOut">
              <a:rPr lang="ru-RU" smtClean="0"/>
              <a:pPr/>
              <a:t>25.05.2017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sms-aktiv.com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oc-acck.deer.io/" TargetMode="External"/><Relationship Id="rId5" Type="http://schemas.openxmlformats.org/officeDocument/2006/relationships/hyperlink" Target="http://grand-acs.twopay.ru/" TargetMode="External"/><Relationship Id="rId4" Type="http://schemas.openxmlformats.org/officeDocument/2006/relationships/hyperlink" Target="http://greenshop.su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aplus.me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nstamedia.pro/" TargetMode="External"/><Relationship Id="rId5" Type="http://schemas.openxmlformats.org/officeDocument/2006/relationships/hyperlink" Target="https://funinsta.pro/" TargetMode="External"/><Relationship Id="rId4" Type="http://schemas.openxmlformats.org/officeDocument/2006/relationships/hyperlink" Target="http://tooligram.com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16632"/>
            <a:ext cx="7772400" cy="1470025"/>
          </a:xfrm>
        </p:spPr>
        <p:txBody>
          <a:bodyPr>
            <a:noAutofit/>
          </a:bodyPr>
          <a:lstStyle/>
          <a:p>
            <a:r>
              <a:rPr lang="ru-RU" sz="5100" b="1" dirty="0" smtClean="0"/>
              <a:t>Часть 2. </a:t>
            </a:r>
            <a:r>
              <a:rPr lang="en-US" sz="5100" b="1" dirty="0" smtClean="0"/>
              <a:t>SMM </a:t>
            </a:r>
            <a:r>
              <a:rPr lang="ru-RU" sz="5100" b="1" dirty="0" smtClean="0"/>
              <a:t>(Основы продвижение в соц. сетях)</a:t>
            </a:r>
            <a:endParaRPr lang="ru-RU" sz="51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03368"/>
            <a:ext cx="6984776" cy="505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3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700" b="1" dirty="0" smtClean="0"/>
              <a:t>Продвижение в </a:t>
            </a:r>
            <a:r>
              <a:rPr lang="en-US" sz="5700" b="1" dirty="0" err="1" smtClean="0"/>
              <a:t>Facebook</a:t>
            </a:r>
            <a:endParaRPr lang="ru-RU" sz="5700" dirty="0"/>
          </a:p>
        </p:txBody>
      </p:sp>
      <p:pic>
        <p:nvPicPr>
          <p:cNvPr id="4" name="Содержимое 3" descr="s-29bd213e83cdb8d4e59f8837cfb5c49ac5b57c9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1714488"/>
            <a:ext cx="9144021" cy="51435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Форматы «страниц» </a:t>
            </a:r>
            <a:br>
              <a:rPr lang="ru-RU" sz="6000" b="1" dirty="0" smtClean="0"/>
            </a:br>
            <a:r>
              <a:rPr lang="ru-RU" sz="6000" b="1" dirty="0" smtClean="0"/>
              <a:t>на </a:t>
            </a:r>
            <a:r>
              <a:rPr lang="en-US" sz="6000" b="1" dirty="0" smtClean="0"/>
              <a:t>Facebook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4000" dirty="0"/>
          </a:p>
          <a:p>
            <a:r>
              <a:rPr lang="ru-RU" sz="4000" dirty="0" smtClean="0"/>
              <a:t>Личный профиль</a:t>
            </a:r>
          </a:p>
          <a:p>
            <a:r>
              <a:rPr lang="ru-RU" sz="4000" dirty="0" smtClean="0"/>
              <a:t>Бизнес-страница</a:t>
            </a:r>
          </a:p>
          <a:p>
            <a:r>
              <a:rPr lang="ru-RU" sz="4000" dirty="0" smtClean="0"/>
              <a:t>Группа</a:t>
            </a:r>
          </a:p>
          <a:p>
            <a:r>
              <a:rPr lang="ru-RU" sz="4000" dirty="0" smtClean="0"/>
              <a:t>Мероприятие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3888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b="1" dirty="0" smtClean="0"/>
              <a:t>Почему формат «Группа» не подходит для продвижения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r>
              <a:rPr lang="ru-RU" dirty="0" smtClean="0"/>
              <a:t>В группу можно добавлять </a:t>
            </a:r>
            <a:r>
              <a:rPr lang="ru-RU" dirty="0"/>
              <a:t>пользователей </a:t>
            </a:r>
            <a:r>
              <a:rPr lang="ru-RU" dirty="0" smtClean="0"/>
              <a:t>без их согласия</a:t>
            </a:r>
          </a:p>
          <a:p>
            <a:r>
              <a:rPr lang="ru-RU" dirty="0" smtClean="0"/>
              <a:t>Все участники группы могут делать посты в группе и все участники будут получать уведомления о новых постах</a:t>
            </a:r>
          </a:p>
          <a:p>
            <a:r>
              <a:rPr lang="ru-RU" dirty="0" smtClean="0"/>
              <a:t>Формат «Группа» нельзя продвигать с помощью </a:t>
            </a:r>
            <a:r>
              <a:rPr lang="ru-RU" dirty="0" err="1" smtClean="0"/>
              <a:t>таргетированной</a:t>
            </a:r>
            <a:r>
              <a:rPr lang="ru-RU" dirty="0" smtClean="0"/>
              <a:t> рекламы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88509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Создание бизнес-страницы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988840"/>
            <a:ext cx="6348074" cy="4732201"/>
          </a:xfrm>
        </p:spPr>
      </p:pic>
    </p:spTree>
    <p:extLst>
      <p:ext uri="{BB962C8B-B14F-4D97-AF65-F5344CB8AC3E}">
        <p14:creationId xmlns:p14="http://schemas.microsoft.com/office/powerpoint/2010/main" val="122526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Размеры фото и обложки</a:t>
            </a:r>
            <a:endParaRPr lang="ru-RU" sz="6500" b="1" dirty="0"/>
          </a:p>
        </p:txBody>
      </p:sp>
      <p:pic>
        <p:nvPicPr>
          <p:cNvPr id="4" name="Содержимое 3" descr="facebook-cover-photo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2000240"/>
            <a:ext cx="7604967" cy="485776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Заполнение общих настроек</a:t>
            </a:r>
            <a:endParaRPr lang="ru-RU" sz="6000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16832"/>
            <a:ext cx="7815003" cy="4779524"/>
          </a:xfrm>
        </p:spPr>
      </p:pic>
    </p:spTree>
    <p:extLst>
      <p:ext uri="{BB962C8B-B14F-4D97-AF65-F5344CB8AC3E}">
        <p14:creationId xmlns:p14="http://schemas.microsoft.com/office/powerpoint/2010/main" val="235527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Заполнение информации </a:t>
            </a:r>
            <a:br>
              <a:rPr lang="ru-RU" sz="5400" b="1" dirty="0" smtClean="0"/>
            </a:br>
            <a:r>
              <a:rPr lang="ru-RU" sz="5400" b="1" dirty="0" smtClean="0"/>
              <a:t>о компании</a:t>
            </a:r>
            <a:endParaRPr lang="ru-RU" sz="5400" b="1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623" y="1844824"/>
            <a:ext cx="5506754" cy="487846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sz="6000" b="1" dirty="0" smtClean="0"/>
              <a:t>Настройка вкладок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412776"/>
            <a:ext cx="5906477" cy="5299648"/>
          </a:xfrm>
        </p:spPr>
      </p:pic>
    </p:spTree>
    <p:extLst>
      <p:ext uri="{BB962C8B-B14F-4D97-AF65-F5344CB8AC3E}">
        <p14:creationId xmlns:p14="http://schemas.microsoft.com/office/powerpoint/2010/main" val="27861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Добавить кнопку с призывом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276872"/>
            <a:ext cx="8686095" cy="3553402"/>
          </a:xfrm>
        </p:spPr>
      </p:pic>
    </p:spTree>
    <p:extLst>
      <p:ext uri="{BB962C8B-B14F-4D97-AF65-F5344CB8AC3E}">
        <p14:creationId xmlns:p14="http://schemas.microsoft.com/office/powerpoint/2010/main" val="19997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6000" b="1" dirty="0"/>
              <a:t>Использование закрепленного поста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628800"/>
            <a:ext cx="6309373" cy="5134157"/>
          </a:xfrm>
        </p:spPr>
      </p:pic>
    </p:spTree>
    <p:extLst>
      <p:ext uri="{BB962C8B-B14F-4D97-AF65-F5344CB8AC3E}">
        <p14:creationId xmlns:p14="http://schemas.microsoft.com/office/powerpoint/2010/main" val="74967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Наполнить сообщество </a:t>
            </a:r>
            <a:br>
              <a:rPr lang="ru-RU" sz="6000" b="1" dirty="0" smtClean="0"/>
            </a:br>
            <a:r>
              <a:rPr lang="ru-RU" sz="6000" b="1" dirty="0" smtClean="0"/>
              <a:t>10-15 постами</a:t>
            </a:r>
            <a:endParaRPr lang="ru-RU" sz="6000" b="1" dirty="0"/>
          </a:p>
        </p:txBody>
      </p:sp>
      <p:pic>
        <p:nvPicPr>
          <p:cNvPr id="8" name="Содержимое 7" descr="Content-is-king1-750x41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505" y="1857364"/>
            <a:ext cx="9147505" cy="5000636"/>
          </a:xfrm>
        </p:spPr>
      </p:pic>
    </p:spTree>
    <p:extLst>
      <p:ext uri="{BB962C8B-B14F-4D97-AF65-F5344CB8AC3E}">
        <p14:creationId xmlns:p14="http://schemas.microsoft.com/office/powerpoint/2010/main" val="185483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199" y="8099"/>
            <a:ext cx="8229600" cy="1143000"/>
          </a:xfrm>
        </p:spPr>
        <p:txBody>
          <a:bodyPr>
            <a:normAutofit/>
          </a:bodyPr>
          <a:lstStyle/>
          <a:p>
            <a:r>
              <a:rPr lang="ru-RU" sz="6600" b="1" dirty="0" smtClean="0"/>
              <a:t>Аналитика страницы</a:t>
            </a:r>
            <a:endParaRPr lang="ru-RU" sz="66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13" y="1417638"/>
            <a:ext cx="6602573" cy="5099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7200" b="1" dirty="0" smtClean="0"/>
              <a:t>Анализ постов</a:t>
            </a:r>
            <a:endParaRPr lang="ru-RU" sz="7200" b="1" dirty="0"/>
          </a:p>
        </p:txBody>
      </p:sp>
      <p:pic>
        <p:nvPicPr>
          <p:cNvPr id="4" name="Содержимое 3" descr="Screenshot_1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1643050"/>
            <a:ext cx="8342840" cy="490063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6500" b="1" dirty="0" smtClean="0"/>
              <a:t>Параметры анализа</a:t>
            </a:r>
            <a:endParaRPr lang="ru-RU" sz="6500" b="1" dirty="0"/>
          </a:p>
        </p:txBody>
      </p:sp>
      <p:pic>
        <p:nvPicPr>
          <p:cNvPr id="5" name="Содержимое 4" descr="Screenshot_1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10" y="1600200"/>
            <a:ext cx="8052095" cy="5257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Autofit/>
          </a:bodyPr>
          <a:lstStyle/>
          <a:p>
            <a:r>
              <a:rPr lang="ru-RU" sz="6000" b="1" dirty="0" smtClean="0"/>
              <a:t>Продвижение в </a:t>
            </a:r>
            <a:r>
              <a:rPr lang="en-US" sz="6000" b="1" dirty="0" smtClean="0"/>
              <a:t>Instagram</a:t>
            </a:r>
            <a:endParaRPr lang="ru-RU" sz="6000" b="1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86" y="1700808"/>
            <a:ext cx="5039828" cy="5039828"/>
          </a:xfrm>
        </p:spPr>
      </p:pic>
    </p:spTree>
    <p:extLst>
      <p:ext uri="{BB962C8B-B14F-4D97-AF65-F5344CB8AC3E}">
        <p14:creationId xmlns:p14="http://schemas.microsoft.com/office/powerpoint/2010/main" val="311155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Связывание аккаунтов </a:t>
            </a:r>
            <a:r>
              <a:rPr lang="en-US" sz="5400" b="1" dirty="0" smtClean="0"/>
              <a:t>Instagram </a:t>
            </a:r>
            <a:r>
              <a:rPr lang="ru-RU" sz="5400" b="1" dirty="0" smtClean="0"/>
              <a:t>и </a:t>
            </a:r>
            <a:r>
              <a:rPr lang="en-US" sz="5400" b="1" dirty="0" smtClean="0"/>
              <a:t>Facebook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35" y="2420888"/>
            <a:ext cx="7317730" cy="3658865"/>
          </a:xfrm>
        </p:spPr>
      </p:pic>
    </p:spTree>
    <p:extLst>
      <p:ext uri="{BB962C8B-B14F-4D97-AF65-F5344CB8AC3E}">
        <p14:creationId xmlns:p14="http://schemas.microsoft.com/office/powerpoint/2010/main" val="354284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80512" cy="1143000"/>
          </a:xfrm>
        </p:spPr>
        <p:txBody>
          <a:bodyPr>
            <a:noAutofit/>
          </a:bodyPr>
          <a:lstStyle/>
          <a:p>
            <a:r>
              <a:rPr lang="ru-RU" sz="5000" b="1" dirty="0" smtClean="0"/>
              <a:t>Чтобы снизить вероятность </a:t>
            </a:r>
            <a:r>
              <a:rPr lang="ru-RU" sz="5000" b="1" dirty="0" err="1" smtClean="0"/>
              <a:t>бана</a:t>
            </a:r>
            <a:r>
              <a:rPr lang="ru-RU" sz="5000" b="1" dirty="0" smtClean="0"/>
              <a:t> аккаунта необходимо:</a:t>
            </a:r>
            <a:endParaRPr lang="ru-RU" sz="5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endParaRPr lang="ru-RU" dirty="0" smtClean="0"/>
          </a:p>
          <a:p>
            <a:r>
              <a:rPr lang="ru-RU" dirty="0" smtClean="0"/>
              <a:t>Связать аккаунт </a:t>
            </a:r>
            <a:r>
              <a:rPr lang="en-US" dirty="0" smtClean="0"/>
              <a:t>Instagram </a:t>
            </a:r>
            <a:r>
              <a:rPr lang="ru-RU" dirty="0" smtClean="0"/>
              <a:t>с аккаунтом </a:t>
            </a:r>
            <a:r>
              <a:rPr lang="en-US" dirty="0" smtClean="0"/>
              <a:t>Facebook</a:t>
            </a:r>
            <a:r>
              <a:rPr lang="ru-RU" dirty="0" smtClean="0"/>
              <a:t>;</a:t>
            </a:r>
          </a:p>
          <a:p>
            <a:r>
              <a:rPr lang="ru-RU" dirty="0" smtClean="0"/>
              <a:t>Привязать аккаунт к номеру телефона и </a:t>
            </a:r>
            <a:r>
              <a:rPr lang="en-US" dirty="0" smtClean="0"/>
              <a:t>email</a:t>
            </a:r>
            <a:r>
              <a:rPr lang="ru-RU" dirty="0" smtClean="0"/>
              <a:t>;</a:t>
            </a:r>
          </a:p>
          <a:p>
            <a:r>
              <a:rPr lang="ru-RU" dirty="0" smtClean="0"/>
              <a:t>Не совершать большого количества активностей (подписок, </a:t>
            </a:r>
            <a:r>
              <a:rPr lang="ru-RU" dirty="0" err="1" smtClean="0"/>
              <a:t>лайков</a:t>
            </a:r>
            <a:r>
              <a:rPr lang="ru-RU" dirty="0" smtClean="0"/>
              <a:t>, комментариев)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* В день не более 1000 подписок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82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0824" y="116632"/>
            <a:ext cx="8229600" cy="1143000"/>
          </a:xfrm>
        </p:spPr>
        <p:txBody>
          <a:bodyPr>
            <a:normAutofit/>
          </a:bodyPr>
          <a:lstStyle/>
          <a:p>
            <a:r>
              <a:rPr lang="ru-RU" sz="6000" b="1" dirty="0" smtClean="0"/>
              <a:t>Оформление профиля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53" y="1772816"/>
            <a:ext cx="8502942" cy="4600375"/>
          </a:xfrm>
        </p:spPr>
      </p:pic>
    </p:spTree>
    <p:extLst>
      <p:ext uri="{BB962C8B-B14F-4D97-AF65-F5344CB8AC3E}">
        <p14:creationId xmlns:p14="http://schemas.microsoft.com/office/powerpoint/2010/main" val="93076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ru-RU" sz="6000" b="1" dirty="0" smtClean="0"/>
              <a:t>Описание профиля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Логин (1-2 слова через «_», на английском )</a:t>
            </a:r>
            <a:endParaRPr lang="ru-RU" dirty="0" smtClean="0"/>
          </a:p>
          <a:p>
            <a:r>
              <a:rPr lang="ru-RU" dirty="0" smtClean="0"/>
              <a:t>Имя </a:t>
            </a:r>
            <a:r>
              <a:rPr lang="ru-RU" dirty="0" smtClean="0"/>
              <a:t>(30 символов, на русском языке)</a:t>
            </a:r>
            <a:endParaRPr lang="ru-RU" dirty="0" smtClean="0"/>
          </a:p>
          <a:p>
            <a:r>
              <a:rPr lang="ru-RU" dirty="0" smtClean="0"/>
              <a:t>Описание:</a:t>
            </a:r>
          </a:p>
          <a:p>
            <a:pPr>
              <a:buFontTx/>
              <a:buChar char="-"/>
            </a:pPr>
            <a:r>
              <a:rPr lang="ru-RU" dirty="0" smtClean="0"/>
              <a:t>указать информацию о компании либо написать УТП;</a:t>
            </a:r>
          </a:p>
          <a:p>
            <a:pPr>
              <a:buFontTx/>
              <a:buChar char="-"/>
            </a:pPr>
            <a:r>
              <a:rPr lang="ru-RU" dirty="0"/>
              <a:t>у</a:t>
            </a:r>
            <a:r>
              <a:rPr lang="ru-RU" dirty="0" smtClean="0"/>
              <a:t>казать регион, в котором работает компания;</a:t>
            </a:r>
          </a:p>
          <a:p>
            <a:pPr>
              <a:buFontTx/>
              <a:buChar char="-"/>
            </a:pPr>
            <a:r>
              <a:rPr lang="ru-RU" dirty="0"/>
              <a:t>н</a:t>
            </a:r>
            <a:r>
              <a:rPr lang="ru-RU" dirty="0" smtClean="0"/>
              <a:t>омер телефона;</a:t>
            </a:r>
          </a:p>
          <a:p>
            <a:pPr>
              <a:buFontTx/>
              <a:buChar char="-"/>
            </a:pPr>
            <a:r>
              <a:rPr lang="ru-RU" dirty="0"/>
              <a:t>с</a:t>
            </a:r>
            <a:r>
              <a:rPr lang="ru-RU" dirty="0" smtClean="0"/>
              <a:t>айт либо ссылка на сообщество в другой соц. </a:t>
            </a:r>
            <a:r>
              <a:rPr lang="ru-RU" dirty="0" smtClean="0"/>
              <a:t>Сети;</a:t>
            </a:r>
          </a:p>
          <a:p>
            <a:pPr>
              <a:buFontTx/>
              <a:buChar char="-"/>
            </a:pPr>
            <a:r>
              <a:rPr lang="ru-RU" dirty="0"/>
              <a:t>у</a:t>
            </a:r>
            <a:r>
              <a:rPr lang="ru-RU" dirty="0" smtClean="0"/>
              <a:t>казать как с вами связаться (</a:t>
            </a:r>
            <a:r>
              <a:rPr lang="en-US" dirty="0" err="1" smtClean="0"/>
              <a:t>Viber</a:t>
            </a:r>
            <a:r>
              <a:rPr lang="en-US" dirty="0" smtClean="0"/>
              <a:t>, </a:t>
            </a:r>
            <a:r>
              <a:rPr lang="en-US" dirty="0" err="1" smtClean="0"/>
              <a:t>WhatsApp</a:t>
            </a:r>
            <a:r>
              <a:rPr lang="en-US" dirty="0" smtClean="0"/>
              <a:t>, Telegram</a:t>
            </a:r>
            <a:r>
              <a:rPr lang="ru-RU" dirty="0" smtClean="0"/>
              <a:t>)</a:t>
            </a:r>
            <a:endParaRPr lang="ru-RU" dirty="0" smtClean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77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ru-RU" sz="6000" b="1" dirty="0" smtClean="0"/>
              <a:t>ВАЖНО!!!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 smtClean="0"/>
              <a:t>Логин и имя аккаунта участвуют в поиске </a:t>
            </a:r>
            <a:r>
              <a:rPr lang="en-US" sz="4000" dirty="0" err="1" smtClean="0"/>
              <a:t>Instagram</a:t>
            </a:r>
            <a:r>
              <a:rPr lang="ru-RU" sz="4000" dirty="0" smtClean="0"/>
              <a:t>. Написав правильно эти данные можно получать бесплатных подписчиков!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71380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Autofit/>
          </a:bodyPr>
          <a:lstStyle/>
          <a:p>
            <a:r>
              <a:rPr lang="ru-RU" sz="6000" b="1" dirty="0" smtClean="0"/>
              <a:t>Р</a:t>
            </a:r>
            <a:r>
              <a:rPr lang="ru-RU" sz="6000" b="1" dirty="0" smtClean="0"/>
              <a:t>екомендации по написанию описания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2852936"/>
            <a:ext cx="8229600" cy="4525963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ru-RU" sz="4000" dirty="0" smtClean="0"/>
              <a:t>Разделяйте описание на абзацы</a:t>
            </a:r>
          </a:p>
          <a:p>
            <a:pPr marL="742950" indent="-742950">
              <a:buAutoNum type="arabicPeriod"/>
            </a:pPr>
            <a:r>
              <a:rPr lang="ru-RU" sz="4000" dirty="0" smtClean="0"/>
              <a:t>Используйте </a:t>
            </a:r>
            <a:r>
              <a:rPr lang="ru-RU" sz="4000" dirty="0" err="1" smtClean="0"/>
              <a:t>смайлы</a:t>
            </a:r>
            <a:r>
              <a:rPr lang="ru-RU" sz="4000" dirty="0" smtClean="0"/>
              <a:t> (</a:t>
            </a:r>
            <a:r>
              <a:rPr lang="ru-RU" sz="4000" dirty="0" err="1" smtClean="0"/>
              <a:t>эмодзи</a:t>
            </a:r>
            <a:r>
              <a:rPr lang="ru-RU" sz="4000" dirty="0" smtClean="0"/>
              <a:t>)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70127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Autofit/>
          </a:bodyPr>
          <a:lstStyle/>
          <a:p>
            <a:r>
              <a:rPr lang="ru-RU" sz="5400" b="1" dirty="0" smtClean="0"/>
              <a:t>Переключение на бизнес-профиль </a:t>
            </a:r>
            <a:r>
              <a:rPr lang="en-US" sz="5400" b="1" dirty="0" smtClean="0"/>
              <a:t>Instagram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98" y="1844824"/>
            <a:ext cx="6473692" cy="4855269"/>
          </a:xfrm>
        </p:spPr>
      </p:pic>
    </p:spTree>
    <p:extLst>
      <p:ext uri="{BB962C8B-B14F-4D97-AF65-F5344CB8AC3E}">
        <p14:creationId xmlns:p14="http://schemas.microsoft.com/office/powerpoint/2010/main" val="193700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Отличия бизнес-профиля от обычного</a:t>
            </a:r>
            <a:endParaRPr lang="ru-RU" sz="5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525963"/>
          </a:xfrm>
        </p:spPr>
        <p:txBody>
          <a:bodyPr/>
          <a:lstStyle/>
          <a:p>
            <a:r>
              <a:rPr lang="ru-RU" dirty="0" smtClean="0"/>
              <a:t>Кнопка «Связаться» в шапке с информацией</a:t>
            </a:r>
          </a:p>
          <a:p>
            <a:r>
              <a:rPr lang="ru-RU" dirty="0" smtClean="0"/>
              <a:t>Активная гиперссылка с адресом, после нажатия на которую пользователь попадает в </a:t>
            </a:r>
            <a:r>
              <a:rPr lang="en-US" dirty="0" smtClean="0"/>
              <a:t>Google</a:t>
            </a:r>
            <a:r>
              <a:rPr lang="ru-RU" dirty="0" smtClean="0"/>
              <a:t>-карты</a:t>
            </a:r>
          </a:p>
          <a:p>
            <a:r>
              <a:rPr lang="ru-RU" dirty="0" smtClean="0"/>
              <a:t>Под именем бренда появляется категория товара на английском языке</a:t>
            </a:r>
          </a:p>
          <a:p>
            <a:r>
              <a:rPr lang="ru-RU" dirty="0" smtClean="0"/>
              <a:t>Новые показатели аналитики: охват, вовлеченность конкретных постов.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196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b="1" dirty="0" err="1" smtClean="0"/>
              <a:t>Хештеги</a:t>
            </a:r>
            <a:r>
              <a:rPr lang="ru-RU" sz="6600" b="1" dirty="0" smtClean="0"/>
              <a:t> и </a:t>
            </a:r>
            <a:r>
              <a:rPr lang="ru-RU" sz="6600" b="1" dirty="0" err="1" smtClean="0"/>
              <a:t>геотеги</a:t>
            </a:r>
            <a:endParaRPr lang="ru-RU" sz="66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61" y="2276872"/>
            <a:ext cx="7940278" cy="3970139"/>
          </a:xfrm>
        </p:spPr>
      </p:pic>
    </p:spTree>
    <p:extLst>
      <p:ext uri="{BB962C8B-B14F-4D97-AF65-F5344CB8AC3E}">
        <p14:creationId xmlns:p14="http://schemas.microsoft.com/office/powerpoint/2010/main" val="406026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b="1" dirty="0" smtClean="0"/>
              <a:t>3 типа </a:t>
            </a:r>
            <a:r>
              <a:rPr lang="ru-RU" sz="6000" b="1" dirty="0" err="1" smtClean="0"/>
              <a:t>хештегов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R"/>
            </a:pPr>
            <a:endParaRPr lang="ru-RU" dirty="0" smtClean="0"/>
          </a:p>
          <a:p>
            <a:pPr marL="514350" indent="-514350">
              <a:buAutoNum type="arabicParenR"/>
            </a:pPr>
            <a:r>
              <a:rPr lang="ru-RU" dirty="0" err="1" smtClean="0"/>
              <a:t>Брендированные</a:t>
            </a:r>
            <a:r>
              <a:rPr lang="ru-RU" dirty="0" smtClean="0"/>
              <a:t> – уникальные (</a:t>
            </a:r>
            <a:r>
              <a:rPr lang="en-US" dirty="0" smtClean="0"/>
              <a:t>#</a:t>
            </a:r>
            <a:r>
              <a:rPr lang="en-US" dirty="0" err="1" smtClean="0"/>
              <a:t>nike</a:t>
            </a:r>
            <a:r>
              <a:rPr lang="en-US" dirty="0" smtClean="0"/>
              <a:t>, #it</a:t>
            </a:r>
            <a:r>
              <a:rPr lang="ru-RU" dirty="0" smtClean="0"/>
              <a:t>школа</a:t>
            </a:r>
            <a:r>
              <a:rPr lang="en-US" dirty="0" err="1" smtClean="0"/>
              <a:t>easycode</a:t>
            </a:r>
            <a:r>
              <a:rPr lang="en-US" dirty="0" smtClean="0"/>
              <a:t>, #</a:t>
            </a:r>
            <a:r>
              <a:rPr lang="en-US" dirty="0" err="1" smtClean="0"/>
              <a:t>pepsi</a:t>
            </a:r>
            <a:r>
              <a:rPr lang="ru-RU" dirty="0" smtClean="0"/>
              <a:t>)</a:t>
            </a:r>
          </a:p>
          <a:p>
            <a:pPr marL="514350" indent="-514350">
              <a:buAutoNum type="arabicParenR"/>
            </a:pPr>
            <a:r>
              <a:rPr lang="ru-RU" dirty="0" smtClean="0"/>
              <a:t>Тематические – популярные в определенной нише (</a:t>
            </a:r>
            <a:r>
              <a:rPr lang="en-US" dirty="0" smtClean="0"/>
              <a:t>#</a:t>
            </a:r>
            <a:r>
              <a:rPr lang="ru-RU" dirty="0" err="1" smtClean="0"/>
              <a:t>доставкаеды</a:t>
            </a:r>
            <a:r>
              <a:rPr lang="ru-RU" dirty="0" smtClean="0"/>
              <a:t>, </a:t>
            </a:r>
            <a:r>
              <a:rPr lang="en-US" dirty="0" smtClean="0"/>
              <a:t>#</a:t>
            </a:r>
            <a:r>
              <a:rPr lang="ru-RU" dirty="0" err="1" smtClean="0"/>
              <a:t>курсыпрограммирования</a:t>
            </a:r>
            <a:r>
              <a:rPr lang="ru-RU" dirty="0" smtClean="0"/>
              <a:t>)</a:t>
            </a:r>
          </a:p>
          <a:p>
            <a:pPr marL="514350" indent="-514350">
              <a:buAutoNum type="arabicParenR"/>
            </a:pPr>
            <a:r>
              <a:rPr lang="ru-RU" dirty="0" smtClean="0"/>
              <a:t>Популярные общие (</a:t>
            </a:r>
            <a:r>
              <a:rPr lang="en-US" dirty="0" smtClean="0"/>
              <a:t>#</a:t>
            </a:r>
            <a:r>
              <a:rPr lang="ru-RU" dirty="0" smtClean="0"/>
              <a:t>свадьба, </a:t>
            </a:r>
            <a:r>
              <a:rPr lang="en-US" dirty="0" smtClean="0"/>
              <a:t>#</a:t>
            </a:r>
            <a:r>
              <a:rPr lang="ru-RU" dirty="0" smtClean="0"/>
              <a:t>отпуск)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* Использовать </a:t>
            </a:r>
            <a:r>
              <a:rPr lang="ru-RU" dirty="0" smtClean="0"/>
              <a:t>3-10 </a:t>
            </a:r>
            <a:r>
              <a:rPr lang="ru-RU" dirty="0" err="1" smtClean="0"/>
              <a:t>хештегов</a:t>
            </a:r>
            <a:r>
              <a:rPr lang="ru-RU" dirty="0" smtClean="0"/>
              <a:t> в посте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18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600" b="1" dirty="0" smtClean="0"/>
              <a:t>Методы продвижения в </a:t>
            </a:r>
            <a:r>
              <a:rPr lang="en-US" sz="6600" b="1" dirty="0" smtClean="0"/>
              <a:t>SMM</a:t>
            </a:r>
            <a:endParaRPr lang="ru-RU" sz="6600" b="1" dirty="0"/>
          </a:p>
        </p:txBody>
      </p:sp>
      <p:pic>
        <p:nvPicPr>
          <p:cNvPr id="4" name="Содержимое 3" descr="vlijaet-li-smm-na-prodazhi_35822_p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8600" y="1905000"/>
            <a:ext cx="9601200" cy="4953000"/>
          </a:xfrm>
        </p:spPr>
      </p:pic>
    </p:spTree>
    <p:extLst>
      <p:ext uri="{BB962C8B-B14F-4D97-AF65-F5344CB8AC3E}">
        <p14:creationId xmlns:p14="http://schemas.microsoft.com/office/powerpoint/2010/main" val="30821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8000" b="1" dirty="0" smtClean="0"/>
              <a:t>Бесплатные</a:t>
            </a:r>
            <a:endParaRPr lang="ru-RU" sz="8000" b="1" dirty="0"/>
          </a:p>
        </p:txBody>
      </p:sp>
      <p:pic>
        <p:nvPicPr>
          <p:cNvPr id="4" name="Содержимое 3" descr="free-softwa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4513" y="1981200"/>
            <a:ext cx="9248513" cy="3963648"/>
          </a:xfrm>
        </p:spPr>
      </p:pic>
    </p:spTree>
    <p:extLst>
      <p:ext uri="{BB962C8B-B14F-4D97-AF65-F5344CB8AC3E}">
        <p14:creationId xmlns:p14="http://schemas.microsoft.com/office/powerpoint/2010/main" val="17572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600" b="1" dirty="0" smtClean="0"/>
              <a:t>Интеграция с вашим сайтом</a:t>
            </a:r>
            <a:endParaRPr lang="ru-RU" sz="6600" dirty="0"/>
          </a:p>
        </p:txBody>
      </p:sp>
      <p:pic>
        <p:nvPicPr>
          <p:cNvPr id="5" name="Содержимое 4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079533"/>
            <a:ext cx="8429704" cy="4778467"/>
          </a:xfrm>
        </p:spPr>
      </p:pic>
    </p:spTree>
    <p:extLst>
      <p:ext uri="{BB962C8B-B14F-4D97-AF65-F5344CB8AC3E}">
        <p14:creationId xmlns:p14="http://schemas.microsoft.com/office/powerpoint/2010/main" val="294735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600" b="1" dirty="0" smtClean="0"/>
              <a:t>Сотрудничество с другими </a:t>
            </a:r>
            <a:r>
              <a:rPr lang="ru-RU" sz="6600" b="1" dirty="0" err="1" smtClean="0"/>
              <a:t>пабликами</a:t>
            </a:r>
            <a:endParaRPr lang="ru-RU" sz="6600" b="1" dirty="0"/>
          </a:p>
        </p:txBody>
      </p:sp>
      <p:pic>
        <p:nvPicPr>
          <p:cNvPr id="4" name="Содержимое 3" descr="1201-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981200"/>
            <a:ext cx="6797126" cy="4876800"/>
          </a:xfrm>
        </p:spPr>
      </p:pic>
    </p:spTree>
    <p:extLst>
      <p:ext uri="{BB962C8B-B14F-4D97-AF65-F5344CB8AC3E}">
        <p14:creationId xmlns:p14="http://schemas.microsoft.com/office/powerpoint/2010/main" val="364108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8000" b="1" dirty="0" err="1" smtClean="0"/>
              <a:t>Френдинг</a:t>
            </a:r>
            <a:endParaRPr lang="ru-RU" sz="8000" b="1" dirty="0"/>
          </a:p>
        </p:txBody>
      </p:sp>
      <p:pic>
        <p:nvPicPr>
          <p:cNvPr id="4" name="Содержимое 3" descr="2795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805780"/>
            <a:ext cx="7473077" cy="5052220"/>
          </a:xfrm>
        </p:spPr>
      </p:pic>
    </p:spTree>
    <p:extLst>
      <p:ext uri="{BB962C8B-B14F-4D97-AF65-F5344CB8AC3E}">
        <p14:creationId xmlns:p14="http://schemas.microsoft.com/office/powerpoint/2010/main" val="416607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8002"/>
            <a:ext cx="8229600" cy="1143000"/>
          </a:xfrm>
        </p:spPr>
        <p:txBody>
          <a:bodyPr>
            <a:normAutofit/>
          </a:bodyPr>
          <a:lstStyle/>
          <a:p>
            <a:r>
              <a:rPr lang="ru-RU" sz="6000" b="1" dirty="0" smtClean="0"/>
              <a:t>Создание 3-5 </a:t>
            </a:r>
            <a:r>
              <a:rPr lang="ru-RU" sz="6000" b="1" dirty="0" err="1" smtClean="0"/>
              <a:t>аккаунтов</a:t>
            </a:r>
            <a:endParaRPr lang="ru-RU" sz="60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40768"/>
            <a:ext cx="7245032" cy="5373216"/>
          </a:xfrm>
        </p:spPr>
      </p:pic>
    </p:spTree>
    <p:extLst>
      <p:ext uri="{BB962C8B-B14F-4D97-AF65-F5344CB8AC3E}">
        <p14:creationId xmlns:p14="http://schemas.microsoft.com/office/powerpoint/2010/main" val="338269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7200" b="1" dirty="0" smtClean="0"/>
              <a:t>Биржи </a:t>
            </a:r>
            <a:r>
              <a:rPr lang="ru-RU" sz="7200" b="1" dirty="0" err="1" smtClean="0"/>
              <a:t>аккаунтов</a:t>
            </a:r>
            <a:endParaRPr lang="ru-RU" sz="72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hlinkClick r:id="rId3"/>
              </a:rPr>
              <a:t>SMS-</a:t>
            </a:r>
            <a:r>
              <a:rPr lang="en-US" sz="6000" dirty="0" err="1" smtClean="0">
                <a:hlinkClick r:id="rId3"/>
              </a:rPr>
              <a:t>Aktiv</a:t>
            </a:r>
            <a:endParaRPr lang="en-US" sz="6000" dirty="0" smtClean="0"/>
          </a:p>
          <a:p>
            <a:r>
              <a:rPr lang="en-US" sz="6000" dirty="0" err="1" smtClean="0">
                <a:hlinkClick r:id="rId4"/>
              </a:rPr>
              <a:t>Greenshop</a:t>
            </a:r>
            <a:endParaRPr lang="en-US" sz="6000" dirty="0" smtClean="0"/>
          </a:p>
          <a:p>
            <a:r>
              <a:rPr lang="en-US" sz="6000" dirty="0" smtClean="0">
                <a:hlinkClick r:id="rId5"/>
              </a:rPr>
              <a:t>Grand-</a:t>
            </a:r>
            <a:r>
              <a:rPr lang="en-US" sz="6000" dirty="0" err="1" smtClean="0">
                <a:hlinkClick r:id="rId5"/>
              </a:rPr>
              <a:t>Acs</a:t>
            </a:r>
            <a:endParaRPr lang="en-US" sz="6000" dirty="0" smtClean="0"/>
          </a:p>
          <a:p>
            <a:r>
              <a:rPr lang="en-US" sz="6000" dirty="0" smtClean="0">
                <a:hlinkClick r:id="rId6"/>
              </a:rPr>
              <a:t>Soc-</a:t>
            </a:r>
            <a:r>
              <a:rPr lang="en-US" sz="6000" dirty="0" err="1" smtClean="0">
                <a:hlinkClick r:id="rId6"/>
              </a:rPr>
              <a:t>Acck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25718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600" b="1" dirty="0" smtClean="0"/>
              <a:t>Поиск </a:t>
            </a:r>
            <a:r>
              <a:rPr lang="ru-RU" sz="6600" b="1" dirty="0" err="1" smtClean="0"/>
              <a:t>пабликов</a:t>
            </a:r>
            <a:r>
              <a:rPr lang="ru-RU" sz="6600" b="1" dirty="0" smtClean="0"/>
              <a:t>, где </a:t>
            </a:r>
            <a:br>
              <a:rPr lang="ru-RU" sz="6600" b="1" dirty="0" smtClean="0"/>
            </a:br>
            <a:r>
              <a:rPr lang="ru-RU" sz="6600" b="1" dirty="0" err="1" smtClean="0"/>
              <a:t>тусуется</a:t>
            </a:r>
            <a:r>
              <a:rPr lang="ru-RU" sz="6600" b="1" dirty="0" smtClean="0"/>
              <a:t> ваша ЦА</a:t>
            </a:r>
            <a:endParaRPr lang="ru-RU" sz="6600" b="1" dirty="0"/>
          </a:p>
        </p:txBody>
      </p:sp>
      <p:pic>
        <p:nvPicPr>
          <p:cNvPr id="6" name="Содержимое 5" descr="opredelenie-tselevoy-auditorii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924653"/>
            <a:ext cx="6205468" cy="4933347"/>
          </a:xfrm>
        </p:spPr>
      </p:pic>
    </p:spTree>
    <p:extLst>
      <p:ext uri="{BB962C8B-B14F-4D97-AF65-F5344CB8AC3E}">
        <p14:creationId xmlns:p14="http://schemas.microsoft.com/office/powerpoint/2010/main" val="24453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Составление </a:t>
            </a:r>
            <a:r>
              <a:rPr lang="ru-RU" sz="6000" b="1" dirty="0" err="1" smtClean="0"/>
              <a:t>скрипта</a:t>
            </a:r>
            <a:r>
              <a:rPr lang="ru-RU" sz="6000" b="1" dirty="0" smtClean="0"/>
              <a:t> </a:t>
            </a:r>
            <a:br>
              <a:rPr lang="ru-RU" sz="6000" b="1" dirty="0" smtClean="0"/>
            </a:br>
            <a:r>
              <a:rPr lang="ru-RU" sz="6000" b="1" dirty="0" smtClean="0"/>
              <a:t>общения с ЦА</a:t>
            </a:r>
            <a:endParaRPr lang="ru-RU" sz="6000" b="1" dirty="0"/>
          </a:p>
        </p:txBody>
      </p:sp>
      <p:pic>
        <p:nvPicPr>
          <p:cNvPr id="4" name="Содержимое 3" descr="2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828800"/>
            <a:ext cx="6781800" cy="4807647"/>
          </a:xfrm>
        </p:spPr>
      </p:pic>
    </p:spTree>
    <p:extLst>
      <p:ext uri="{BB962C8B-B14F-4D97-AF65-F5344CB8AC3E}">
        <p14:creationId xmlns:p14="http://schemas.microsoft.com/office/powerpoint/2010/main" val="406061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err="1" smtClean="0"/>
              <a:t>Массфол</a:t>
            </a:r>
            <a:r>
              <a:rPr lang="ru-RU" sz="6000" b="1" dirty="0" err="1"/>
              <a:t>л</a:t>
            </a:r>
            <a:r>
              <a:rPr lang="ru-RU" sz="6000" b="1" dirty="0" err="1" smtClean="0"/>
              <a:t>овинг</a:t>
            </a:r>
            <a:r>
              <a:rPr lang="ru-RU" sz="6000" b="1" dirty="0" smtClean="0"/>
              <a:t> в </a:t>
            </a:r>
            <a:r>
              <a:rPr lang="en-US" sz="6000" b="1" dirty="0" smtClean="0"/>
              <a:t>Instagram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57" y="2204864"/>
            <a:ext cx="6996886" cy="4363650"/>
          </a:xfrm>
        </p:spPr>
      </p:pic>
    </p:spTree>
    <p:extLst>
      <p:ext uri="{BB962C8B-B14F-4D97-AF65-F5344CB8AC3E}">
        <p14:creationId xmlns:p14="http://schemas.microsoft.com/office/powerpoint/2010/main" val="173111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Autofit/>
          </a:bodyPr>
          <a:lstStyle/>
          <a:p>
            <a:r>
              <a:rPr lang="ru-RU" sz="6600" b="1" dirty="0" smtClean="0"/>
              <a:t>Сервисы для </a:t>
            </a:r>
            <a:r>
              <a:rPr lang="ru-RU" sz="6600" b="1" dirty="0" err="1" smtClean="0"/>
              <a:t>массфоловинга</a:t>
            </a:r>
            <a:endParaRPr lang="ru-RU" sz="6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362112"/>
            <a:ext cx="8229600" cy="4525963"/>
          </a:xfrm>
        </p:spPr>
        <p:txBody>
          <a:bodyPr>
            <a:normAutofit/>
          </a:bodyPr>
          <a:lstStyle/>
          <a:p>
            <a:r>
              <a:rPr lang="en-US" sz="4800" dirty="0" err="1" smtClean="0">
                <a:hlinkClick r:id="rId3"/>
              </a:rPr>
              <a:t>Instaplus</a:t>
            </a:r>
            <a:endParaRPr lang="en-US" sz="4800" dirty="0" smtClean="0"/>
          </a:p>
          <a:p>
            <a:r>
              <a:rPr lang="en-US" sz="4800" dirty="0" err="1" smtClean="0">
                <a:hlinkClick r:id="rId4"/>
              </a:rPr>
              <a:t>Tooligram</a:t>
            </a:r>
            <a:endParaRPr lang="en-US" sz="4800" dirty="0" smtClean="0"/>
          </a:p>
          <a:p>
            <a:r>
              <a:rPr lang="en-US" sz="4800" dirty="0" err="1" smtClean="0">
                <a:hlinkClick r:id="rId5"/>
              </a:rPr>
              <a:t>Funinsta</a:t>
            </a:r>
            <a:endParaRPr lang="en-US" sz="4800" dirty="0" smtClean="0"/>
          </a:p>
          <a:p>
            <a:r>
              <a:rPr lang="en-US" sz="4800" dirty="0" err="1" smtClean="0">
                <a:hlinkClick r:id="rId6"/>
              </a:rPr>
              <a:t>Instamedia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7648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Повышение активности сообщества</a:t>
            </a:r>
            <a:endParaRPr lang="ru-RU" sz="6000" b="1" dirty="0"/>
          </a:p>
        </p:txBody>
      </p:sp>
      <p:pic>
        <p:nvPicPr>
          <p:cNvPr id="4" name="Содержимое 3" descr="репост-вк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57400"/>
            <a:ext cx="9144000" cy="4572000"/>
          </a:xfrm>
        </p:spPr>
      </p:pic>
    </p:spTree>
    <p:extLst>
      <p:ext uri="{BB962C8B-B14F-4D97-AF65-F5344CB8AC3E}">
        <p14:creationId xmlns:p14="http://schemas.microsoft.com/office/powerpoint/2010/main" val="208817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Добавление призыва к действию в текст поста</a:t>
            </a:r>
            <a:endParaRPr lang="ru-RU" sz="54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916832"/>
            <a:ext cx="4392782" cy="4843552"/>
          </a:xfrm>
        </p:spPr>
      </p:pic>
    </p:spTree>
    <p:extLst>
      <p:ext uri="{BB962C8B-B14F-4D97-AF65-F5344CB8AC3E}">
        <p14:creationId xmlns:p14="http://schemas.microsoft.com/office/powerpoint/2010/main" val="415716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ru-RU" sz="6600" b="1" dirty="0" smtClean="0"/>
              <a:t>Проведение опросов</a:t>
            </a:r>
            <a:endParaRPr lang="ru-RU" sz="6600" b="1" dirty="0"/>
          </a:p>
        </p:txBody>
      </p:sp>
      <p:pic>
        <p:nvPicPr>
          <p:cNvPr id="4" name="Содержимое 3" descr="4BluqvAWzo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76400"/>
            <a:ext cx="9144000" cy="4815840"/>
          </a:xfrm>
        </p:spPr>
      </p:pic>
    </p:spTree>
    <p:extLst>
      <p:ext uri="{BB962C8B-B14F-4D97-AF65-F5344CB8AC3E}">
        <p14:creationId xmlns:p14="http://schemas.microsoft.com/office/powerpoint/2010/main" val="296990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600" b="1" dirty="0" smtClean="0"/>
              <a:t>Добавление тем обсуждений</a:t>
            </a:r>
            <a:endParaRPr lang="ru-RU" sz="6600" b="1" dirty="0"/>
          </a:p>
        </p:txBody>
      </p:sp>
      <p:pic>
        <p:nvPicPr>
          <p:cNvPr id="4" name="Содержимое 3" descr="1392385052_1338639569_news-16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5000"/>
            <a:ext cx="7551046" cy="4953000"/>
          </a:xfrm>
        </p:spPr>
      </p:pic>
    </p:spTree>
    <p:extLst>
      <p:ext uri="{BB962C8B-B14F-4D97-AF65-F5344CB8AC3E}">
        <p14:creationId xmlns:p14="http://schemas.microsoft.com/office/powerpoint/2010/main" val="301042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7200" b="1" dirty="0" smtClean="0"/>
              <a:t>Проведение акций</a:t>
            </a:r>
            <a:endParaRPr lang="ru-RU" sz="7200" b="1" dirty="0"/>
          </a:p>
        </p:txBody>
      </p:sp>
      <p:pic>
        <p:nvPicPr>
          <p:cNvPr id="4" name="Содержимое 3" descr="akcii_i_skidki_v_stomatologii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524000"/>
            <a:ext cx="8628010" cy="5334000"/>
          </a:xfrm>
        </p:spPr>
      </p:pic>
    </p:spTree>
    <p:extLst>
      <p:ext uri="{BB962C8B-B14F-4D97-AF65-F5344CB8AC3E}">
        <p14:creationId xmlns:p14="http://schemas.microsoft.com/office/powerpoint/2010/main" val="77818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ru-RU" sz="8000" b="1" dirty="0" smtClean="0"/>
              <a:t>Конкурсы и розыгрыши</a:t>
            </a:r>
            <a:endParaRPr lang="ru-RU" sz="8000" b="1" dirty="0"/>
          </a:p>
        </p:txBody>
      </p:sp>
      <p:pic>
        <p:nvPicPr>
          <p:cNvPr id="5" name="Содержимое 4" descr="d1d05a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267568"/>
            <a:ext cx="7392667" cy="4590432"/>
          </a:xfrm>
        </p:spPr>
      </p:pic>
    </p:spTree>
    <p:extLst>
      <p:ext uri="{BB962C8B-B14F-4D97-AF65-F5344CB8AC3E}">
        <p14:creationId xmlns:p14="http://schemas.microsoft.com/office/powerpoint/2010/main" val="322961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Продвижение во </a:t>
            </a:r>
            <a:r>
              <a:rPr lang="en-US" sz="6500" b="1" dirty="0" smtClean="0"/>
              <a:t/>
            </a:r>
            <a:br>
              <a:rPr lang="en-US" sz="6500" b="1" dirty="0" smtClean="0"/>
            </a:br>
            <a:r>
              <a:rPr lang="ru-RU" sz="6500" b="1" dirty="0" smtClean="0"/>
              <a:t>«</a:t>
            </a:r>
            <a:r>
              <a:rPr lang="ru-RU" sz="6500" b="1" dirty="0" err="1" smtClean="0"/>
              <a:t>ВКонтакте</a:t>
            </a:r>
            <a:r>
              <a:rPr lang="ru-RU" sz="6500" b="1" dirty="0" smtClean="0"/>
              <a:t>»</a:t>
            </a:r>
            <a:endParaRPr lang="ru-RU" sz="6500" dirty="0"/>
          </a:p>
        </p:txBody>
      </p:sp>
      <p:pic>
        <p:nvPicPr>
          <p:cNvPr id="6" name="Содержимое 5" descr="cu3cfGACrP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00" y="1962921"/>
            <a:ext cx="7423468" cy="4895079"/>
          </a:xfrm>
        </p:spPr>
      </p:pic>
    </p:spTree>
    <p:extLst>
      <p:ext uri="{BB962C8B-B14F-4D97-AF65-F5344CB8AC3E}">
        <p14:creationId xmlns:p14="http://schemas.microsoft.com/office/powerpoint/2010/main" val="296634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ru-RU" sz="6500" b="1" dirty="0" smtClean="0"/>
              <a:t>Выбор формата </a:t>
            </a:r>
            <a:br>
              <a:rPr lang="ru-RU" sz="6500" b="1" dirty="0" smtClean="0"/>
            </a:br>
            <a:r>
              <a:rPr lang="ru-RU" sz="6500" b="1" dirty="0" smtClean="0"/>
              <a:t>сообщества</a:t>
            </a:r>
            <a:endParaRPr lang="ru-RU" sz="6500" dirty="0"/>
          </a:p>
        </p:txBody>
      </p:sp>
      <p:pic>
        <p:nvPicPr>
          <p:cNvPr id="7" name="Содержимое 6" descr="lol146300608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290" y="1928802"/>
            <a:ext cx="6471594" cy="4929198"/>
          </a:xfrm>
        </p:spPr>
      </p:pic>
    </p:spTree>
    <p:extLst>
      <p:ext uri="{BB962C8B-B14F-4D97-AF65-F5344CB8AC3E}">
        <p14:creationId xmlns:p14="http://schemas.microsoft.com/office/powerpoint/2010/main" val="264916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Форматы сообществ </a:t>
            </a:r>
            <a:r>
              <a:rPr lang="ru-RU" sz="6000" b="1" dirty="0" err="1"/>
              <a:t>В</a:t>
            </a:r>
            <a:r>
              <a:rPr lang="ru-RU" sz="6000" b="1" dirty="0" err="1" smtClean="0"/>
              <a:t>контакте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4000" dirty="0"/>
          </a:p>
          <a:p>
            <a:r>
              <a:rPr lang="ru-RU" sz="4000" dirty="0" smtClean="0"/>
              <a:t>Личная страница</a:t>
            </a:r>
          </a:p>
          <a:p>
            <a:r>
              <a:rPr lang="ru-RU" sz="4000" dirty="0" smtClean="0"/>
              <a:t>Группа</a:t>
            </a:r>
          </a:p>
          <a:p>
            <a:r>
              <a:rPr lang="ru-RU" sz="4000" dirty="0" smtClean="0"/>
              <a:t>Публичная страница</a:t>
            </a:r>
          </a:p>
          <a:p>
            <a:r>
              <a:rPr lang="ru-RU" sz="4000" dirty="0" smtClean="0"/>
              <a:t>Мероприятие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5199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6500" b="1" dirty="0" smtClean="0"/>
              <a:t>Название и описание</a:t>
            </a:r>
            <a:endParaRPr lang="ru-RU" sz="65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628800"/>
            <a:ext cx="7784396" cy="4925144"/>
          </a:xfrm>
        </p:spPr>
      </p:pic>
    </p:spTree>
    <p:extLst>
      <p:ext uri="{BB962C8B-B14F-4D97-AF65-F5344CB8AC3E}">
        <p14:creationId xmlns:p14="http://schemas.microsoft.com/office/powerpoint/2010/main" val="353940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ru-RU" sz="5700" b="1" dirty="0" smtClean="0"/>
              <a:t>Оформление сообщества</a:t>
            </a:r>
            <a:endParaRPr lang="ru-RU" sz="57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352072"/>
            <a:ext cx="8346379" cy="5345888"/>
          </a:xfrm>
        </p:spPr>
      </p:pic>
    </p:spTree>
    <p:extLst>
      <p:ext uri="{BB962C8B-B14F-4D97-AF65-F5344CB8AC3E}">
        <p14:creationId xmlns:p14="http://schemas.microsoft.com/office/powerpoint/2010/main" val="85344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ru-RU" b="1" dirty="0" smtClean="0"/>
              <a:t>Технические требования к обложке и фотографиям сообщества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3600" dirty="0" smtClean="0"/>
          </a:p>
          <a:p>
            <a:r>
              <a:rPr lang="ru-RU" sz="3600" dirty="0" smtClean="0"/>
              <a:t>Форматы: </a:t>
            </a:r>
            <a:r>
              <a:rPr lang="en-US" sz="3600" dirty="0" smtClean="0"/>
              <a:t>JPG, GIF, PNG</a:t>
            </a:r>
          </a:p>
          <a:p>
            <a:r>
              <a:rPr lang="ru-RU" sz="3600" dirty="0" smtClean="0"/>
              <a:t>Размер обложки: 1590*400</a:t>
            </a:r>
          </a:p>
          <a:p>
            <a:r>
              <a:rPr lang="ru-RU" sz="3600" dirty="0" smtClean="0"/>
              <a:t>Размер фотографии: 200*500</a:t>
            </a:r>
          </a:p>
          <a:p>
            <a:r>
              <a:rPr lang="ru-RU" sz="3600" dirty="0" smtClean="0"/>
              <a:t>Размер миниатюры фотографии для мобильных устройств: 200*200</a:t>
            </a:r>
          </a:p>
        </p:txBody>
      </p:sp>
    </p:spTree>
    <p:extLst>
      <p:ext uri="{BB962C8B-B14F-4D97-AF65-F5344CB8AC3E}">
        <p14:creationId xmlns:p14="http://schemas.microsoft.com/office/powerpoint/2010/main" val="25231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Заполнение основных настроек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41" y="2132856"/>
            <a:ext cx="8431318" cy="4074710"/>
          </a:xfrm>
        </p:spPr>
      </p:pic>
    </p:spTree>
    <p:extLst>
      <p:ext uri="{BB962C8B-B14F-4D97-AF65-F5344CB8AC3E}">
        <p14:creationId xmlns:p14="http://schemas.microsoft.com/office/powerpoint/2010/main" val="260104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188640"/>
            <a:ext cx="8229600" cy="1143000"/>
          </a:xfrm>
        </p:spPr>
        <p:txBody>
          <a:bodyPr>
            <a:noAutofit/>
          </a:bodyPr>
          <a:lstStyle/>
          <a:p>
            <a:r>
              <a:rPr lang="ru-RU" sz="5400" b="1" dirty="0" smtClean="0"/>
              <a:t>Наполнение материалами основных разделов</a:t>
            </a:r>
            <a:endParaRPr lang="ru-RU" sz="54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100" y="1700808"/>
            <a:ext cx="5328592" cy="5050523"/>
          </a:xfrm>
        </p:spPr>
      </p:pic>
    </p:spTree>
    <p:extLst>
      <p:ext uri="{BB962C8B-B14F-4D97-AF65-F5344CB8AC3E}">
        <p14:creationId xmlns:p14="http://schemas.microsoft.com/office/powerpoint/2010/main" val="80145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199" y="188640"/>
            <a:ext cx="8229600" cy="1143000"/>
          </a:xfrm>
        </p:spPr>
        <p:txBody>
          <a:bodyPr>
            <a:noAutofit/>
          </a:bodyPr>
          <a:lstStyle/>
          <a:p>
            <a:r>
              <a:rPr lang="ru-RU" sz="5400" b="1" dirty="0" smtClean="0"/>
              <a:t>Заполнение раздела «Товары»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5" y="1628800"/>
            <a:ext cx="5472607" cy="5153311"/>
          </a:xfrm>
        </p:spPr>
      </p:pic>
    </p:spTree>
    <p:extLst>
      <p:ext uri="{BB962C8B-B14F-4D97-AF65-F5344CB8AC3E}">
        <p14:creationId xmlns:p14="http://schemas.microsoft.com/office/powerpoint/2010/main" val="74878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Включить сообщения сообщества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84" y="2204864"/>
            <a:ext cx="8672831" cy="4106355"/>
          </a:xfrm>
        </p:spPr>
      </p:pic>
    </p:spTree>
    <p:extLst>
      <p:ext uri="{BB962C8B-B14F-4D97-AF65-F5344CB8AC3E}">
        <p14:creationId xmlns:p14="http://schemas.microsoft.com/office/powerpoint/2010/main" val="270833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Autofit/>
          </a:bodyPr>
          <a:lstStyle/>
          <a:p>
            <a:r>
              <a:rPr lang="ru-RU" sz="5400" b="1" dirty="0" smtClean="0"/>
              <a:t>Закрепленный </a:t>
            </a:r>
            <a:r>
              <a:rPr lang="ru-RU" sz="5400" b="1" dirty="0"/>
              <a:t>пост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271" y="1772816"/>
            <a:ext cx="5857458" cy="4929266"/>
          </a:xfrm>
        </p:spPr>
      </p:pic>
    </p:spTree>
    <p:extLst>
      <p:ext uri="{BB962C8B-B14F-4D97-AF65-F5344CB8AC3E}">
        <p14:creationId xmlns:p14="http://schemas.microsoft.com/office/powerpoint/2010/main" val="274102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143000"/>
          </a:xfrm>
        </p:spPr>
        <p:txBody>
          <a:bodyPr>
            <a:normAutofit/>
          </a:bodyPr>
          <a:lstStyle/>
          <a:p>
            <a:r>
              <a:rPr lang="ru-RU" sz="6000" b="1" dirty="0" smtClean="0"/>
              <a:t>Аналитика сообщества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33" y="1159808"/>
            <a:ext cx="6350022" cy="5530665"/>
          </a:xfrm>
        </p:spPr>
      </p:pic>
    </p:spTree>
    <p:extLst>
      <p:ext uri="{BB962C8B-B14F-4D97-AF65-F5344CB8AC3E}">
        <p14:creationId xmlns:p14="http://schemas.microsoft.com/office/powerpoint/2010/main" val="271571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Autofit/>
          </a:bodyPr>
          <a:lstStyle/>
          <a:p>
            <a:r>
              <a:rPr lang="ru-RU" sz="6000" b="1" dirty="0" smtClean="0"/>
              <a:t>Аналитика записей сообщества</a:t>
            </a:r>
            <a:endParaRPr lang="ru-RU" sz="60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916832"/>
            <a:ext cx="8016409" cy="4752528"/>
          </a:xfrm>
        </p:spPr>
      </p:pic>
    </p:spTree>
    <p:extLst>
      <p:ext uri="{BB962C8B-B14F-4D97-AF65-F5344CB8AC3E}">
        <p14:creationId xmlns:p14="http://schemas.microsoft.com/office/powerpoint/2010/main" val="221818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6600" b="1" dirty="0" smtClean="0"/>
              <a:t>Статистика записи</a:t>
            </a:r>
            <a:endParaRPr lang="ru-RU" sz="66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268760"/>
            <a:ext cx="6336704" cy="5421514"/>
          </a:xfrm>
        </p:spPr>
      </p:pic>
    </p:spTree>
    <p:extLst>
      <p:ext uri="{BB962C8B-B14F-4D97-AF65-F5344CB8AC3E}">
        <p14:creationId xmlns:p14="http://schemas.microsoft.com/office/powerpoint/2010/main" val="403696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b="1" dirty="0" smtClean="0"/>
              <a:t>Домашнее задание</a:t>
            </a:r>
            <a:endParaRPr lang="ru-RU" sz="66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4525963"/>
          </a:xfrm>
        </p:spPr>
        <p:txBody>
          <a:bodyPr>
            <a:normAutofit/>
          </a:bodyPr>
          <a:lstStyle/>
          <a:p>
            <a:r>
              <a:rPr lang="ru-RU" sz="4000" dirty="0" smtClean="0"/>
              <a:t>Создать и оформить </a:t>
            </a:r>
            <a:r>
              <a:rPr lang="ru-RU" sz="4000" dirty="0" smtClean="0"/>
              <a:t>бизнес-страницу на </a:t>
            </a:r>
            <a:r>
              <a:rPr lang="en-US" sz="4000" dirty="0" smtClean="0"/>
              <a:t>Facebook </a:t>
            </a:r>
            <a:r>
              <a:rPr lang="ru-RU" sz="4000" dirty="0" smtClean="0"/>
              <a:t>и </a:t>
            </a:r>
            <a:r>
              <a:rPr lang="ru-RU" sz="4000" dirty="0" smtClean="0"/>
              <a:t>в </a:t>
            </a:r>
            <a:r>
              <a:rPr lang="en-US" sz="4000" dirty="0" err="1" smtClean="0"/>
              <a:t>Instagram</a:t>
            </a:r>
            <a:endParaRPr lang="ru-RU" sz="4000" dirty="0" smtClean="0"/>
          </a:p>
          <a:p>
            <a:r>
              <a:rPr lang="ru-RU" sz="4000" dirty="0" smtClean="0"/>
              <a:t>Наполнить </a:t>
            </a:r>
            <a:r>
              <a:rPr lang="ru-RU" sz="4000" dirty="0" smtClean="0"/>
              <a:t>страницы 5-10 </a:t>
            </a:r>
            <a:r>
              <a:rPr lang="ru-RU" sz="4000" dirty="0" smtClean="0"/>
              <a:t>постами</a:t>
            </a:r>
          </a:p>
          <a:p>
            <a:r>
              <a:rPr lang="ru-RU" sz="4000" dirty="0" smtClean="0"/>
              <a:t>Интегрировать </a:t>
            </a:r>
            <a:r>
              <a:rPr lang="ru-RU" sz="4000" dirty="0" smtClean="0"/>
              <a:t>страницы с </a:t>
            </a:r>
            <a:r>
              <a:rPr lang="ru-RU" sz="4000" dirty="0" smtClean="0"/>
              <a:t>сайтом</a:t>
            </a:r>
          </a:p>
          <a:p>
            <a:endParaRPr lang="ru-RU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</TotalTime>
  <Words>492</Words>
  <Application>Microsoft Office PowerPoint</Application>
  <PresentationFormat>Экран (4:3)</PresentationFormat>
  <Paragraphs>116</Paragraphs>
  <Slides>58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59" baseType="lpstr">
      <vt:lpstr>Тема Office</vt:lpstr>
      <vt:lpstr>Часть 2. SMM (Основы продвижение в соц. сетях)</vt:lpstr>
      <vt:lpstr>Продвижение в Facebook</vt:lpstr>
      <vt:lpstr>Форматы «страниц»  на Facebook</vt:lpstr>
      <vt:lpstr>Почему формат «Группа» не подходит для продвижения</vt:lpstr>
      <vt:lpstr>Создание бизнес-страницы</vt:lpstr>
      <vt:lpstr>Размеры фото и обложки</vt:lpstr>
      <vt:lpstr>Заполнение общих настроек</vt:lpstr>
      <vt:lpstr>Заполнение информации  о компании</vt:lpstr>
      <vt:lpstr>Настройка вкладок</vt:lpstr>
      <vt:lpstr>Добавить кнопку с призывом</vt:lpstr>
      <vt:lpstr>Использование закрепленного поста</vt:lpstr>
      <vt:lpstr>Наполнить сообщество  10-15 постами</vt:lpstr>
      <vt:lpstr>Аналитика страницы</vt:lpstr>
      <vt:lpstr>Анализ постов</vt:lpstr>
      <vt:lpstr>Параметры анализа</vt:lpstr>
      <vt:lpstr>Продвижение в Instagram</vt:lpstr>
      <vt:lpstr>Связывание аккаунтов Instagram и Facebook</vt:lpstr>
      <vt:lpstr>Чтобы снизить вероятность бана аккаунта необходимо:</vt:lpstr>
      <vt:lpstr>Оформление профиля</vt:lpstr>
      <vt:lpstr>Описание профиля</vt:lpstr>
      <vt:lpstr>ВАЖНО!!!</vt:lpstr>
      <vt:lpstr>Рекомендации по написанию описания</vt:lpstr>
      <vt:lpstr>Переключение на бизнес-профиль Instagram</vt:lpstr>
      <vt:lpstr>Отличия бизнес-профиля от обычного</vt:lpstr>
      <vt:lpstr>Хештеги и геотеги</vt:lpstr>
      <vt:lpstr>3 типа хештегов</vt:lpstr>
      <vt:lpstr>Методы продвижения в SMM</vt:lpstr>
      <vt:lpstr>Бесплатные</vt:lpstr>
      <vt:lpstr>Интеграция с вашим сайтом</vt:lpstr>
      <vt:lpstr>Сотрудничество с другими пабликами</vt:lpstr>
      <vt:lpstr>Френдинг</vt:lpstr>
      <vt:lpstr>Создание 3-5 аккаунтов</vt:lpstr>
      <vt:lpstr>Биржи аккаунтов</vt:lpstr>
      <vt:lpstr>Поиск пабликов, где  тусуется ваша ЦА</vt:lpstr>
      <vt:lpstr>Составление скрипта  общения с ЦА</vt:lpstr>
      <vt:lpstr>Массфолловинг в Instagram</vt:lpstr>
      <vt:lpstr>Сервисы для массфоловинга</vt:lpstr>
      <vt:lpstr>Повышение активности сообщества</vt:lpstr>
      <vt:lpstr>Добавление призыва к действию в текст поста</vt:lpstr>
      <vt:lpstr>Проведение опросов</vt:lpstr>
      <vt:lpstr>Добавление тем обсуждений</vt:lpstr>
      <vt:lpstr>Проведение акций</vt:lpstr>
      <vt:lpstr>Конкурсы и розыгрыши</vt:lpstr>
      <vt:lpstr>Продвижение во  «ВКонтакте»</vt:lpstr>
      <vt:lpstr>Выбор формата  сообщества</vt:lpstr>
      <vt:lpstr>Форматы сообществ Вконтакте</vt:lpstr>
      <vt:lpstr>Название и описание</vt:lpstr>
      <vt:lpstr>Оформление сообщества</vt:lpstr>
      <vt:lpstr>Технические требования к обложке и фотографиям сообщества</vt:lpstr>
      <vt:lpstr>Заполнение основных настроек</vt:lpstr>
      <vt:lpstr>Наполнение материалами основных разделов</vt:lpstr>
      <vt:lpstr>Заполнение раздела «Товары»</vt:lpstr>
      <vt:lpstr>Включить сообщения сообщества</vt:lpstr>
      <vt:lpstr>Закрепленный пост</vt:lpstr>
      <vt:lpstr>Аналитика сообщества</vt:lpstr>
      <vt:lpstr>Аналитика записей сообщества</vt:lpstr>
      <vt:lpstr>Статистика записи</vt:lpstr>
      <vt:lpstr>Домашнее задание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dmgame</dc:creator>
  <cp:lastModifiedBy>user</cp:lastModifiedBy>
  <cp:revision>106</cp:revision>
  <dcterms:created xsi:type="dcterms:W3CDTF">2016-05-11T18:13:59Z</dcterms:created>
  <dcterms:modified xsi:type="dcterms:W3CDTF">2017-05-25T12:18:19Z</dcterms:modified>
</cp:coreProperties>
</file>