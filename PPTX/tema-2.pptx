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2: Стратегия контекстной рекламы. Цели, ключевые запросы, объявления и бюджет в логике Яндекс.Директ.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 реальную выдачу Яндекса по запросу «заказать сайт-визитку» и найдите метку «Реклама».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Соберите вместе с группой 10 запросов в Вордстате по теме одного из студенческих сайтов.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в формате Word можно скачать на сайте практики. Разберите с группой «Пример выполнения» в первом пункте.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ordstat.yandex.ru/" TargetMode="External"/><Relationship Id="rId3" Type="http://schemas.openxmlformats.org/officeDocument/2006/relationships/hyperlink" Target="https://yandex.ru/adv/edu/direct/direct-start" TargetMode="External"/><Relationship Id="rId4" Type="http://schemas.openxmlformats.org/officeDocument/2006/relationships/hyperlink" Target="https://yandex.ru/support/direct/" TargetMode="External"/><Relationship Id="rId5" Type="http://schemas.openxmlformats.org/officeDocument/2006/relationships/hyperlink" Target="https://yandex.ru/support/metrica/" TargetMode="External"/><Relationship Id="rId6" Type="http://schemas.openxmlformats.org/officeDocument/2006/relationships/hyperlink" Target="https://elama.ru/blog/kak-nastroit-yandeks-direkt-s-nulya-v-2025-godu-poshagovoe-prakticheskoe-rukovodstvo-dlya-nachinayuschih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7315200" cy="1143000"/>
          </a:xfrm>
        </p:spPr>
        <p:txBody>
          <a:bodyPr anchor="ctr"/>
          <a:lstStyle/>
          <a:p>
            <a:r>
              <a:rPr sz="3400"/>
              <a:t>Стратегия контекстной рекламы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548640"/>
          </a:xfrm>
        </p:spPr>
        <p:txBody>
          <a:bodyPr/>
          <a:lstStyle/>
          <a:p>
            <a:r>
              <a:t>Цели, ключевые запросы, объявления и бюджет в логике Яндекс.Директ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ТЕМА 2 · ЗАНЯТИЯ 4–6 · 28.10 И 04.11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666E"/>
                </a:solidFill>
              </a:rPr>
              <a:t>Учебная практика УП.09.02 «Оптимизация веб-приложений»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Как устроена контекстная реклама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Цели и показатели эффективности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Ключевые запросы и минус-слова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Объявления, структура кампании, UTM-метки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5584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Бюджет и стратегия показов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AF7B51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Занятия 4–6 · 28.10 и 04.11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2D6"/>
                </a:solidFill>
              </a:rPr>
              <a:t>Практика, видео и тест — на сайте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Виды контекстной рекламы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8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</a:rPr>
              <a:t>Поисковая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07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объявления в результатах поиска по ключевым фразам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5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0232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0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520" y="1892808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</a:rPr>
              <a:t>РСЯ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8520" y="2286000"/>
            <a:ext cx="207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объявления на сайтах-партнёрах Яндекса по интересам пользователя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2639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47231" y="139903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72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5520" y="1892808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</a:rPr>
              <a:t>Ретаргетинг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5520" y="2286000"/>
            <a:ext cx="207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показ рекламы тем, кто уже был на вашем сайте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В России основные системы — Яндекс.Директ и VK Реклама. Google Ads с 2022 года не принимает рекламу российских рекламодателей.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Воронка и ключевые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4480560" cy="685800"/>
          </a:xfrm>
          <a:prstGeom prst="roundRect">
            <a:avLst>
              <a:gd name="adj" fmla="val 16000"/>
            </a:avLst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20 000  </a:t>
            </a:r>
            <a:r>
              <a:rPr sz="1300" b="0" i="0">
                <a:solidFill>
                  <a:srgbClr val="FFFFFF"/>
                </a:solidFill>
              </a:rPr>
              <a:t>показов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039112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1 000  </a:t>
            </a:r>
            <a:r>
              <a:rPr sz="1300" b="0" i="0">
                <a:solidFill>
                  <a:srgbClr val="FFFFFF"/>
                </a:solidFill>
              </a:rPr>
              <a:t>кликов · CTR 5 %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43784"/>
            <a:ext cx="2834640" cy="685800"/>
          </a:xfrm>
          <a:prstGeom prst="roundRect">
            <a:avLst>
              <a:gd name="adj" fmla="val 16000"/>
            </a:avLst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43784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30  </a:t>
            </a:r>
            <a:r>
              <a:rPr sz="1300" b="0" i="0">
                <a:solidFill>
                  <a:srgbClr val="FFFFFF"/>
                </a:solidFill>
              </a:rPr>
              <a:t>заявок · конверсия 3 %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23444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371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Формулы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3736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• CTR = клики / показы</a:t>
            </a:r>
          </a:p>
          <a:p>
            <a:pPr algn="l"/>
            <a:r>
              <a:rPr sz="1300" b="0" i="0">
                <a:solidFill>
                  <a:srgbClr val="55666E"/>
                </a:solidFill>
              </a:rPr>
              <a:t>• CPC = расход / клики</a:t>
            </a:r>
          </a:p>
          <a:p>
            <a:pPr algn="l"/>
            <a:r>
              <a:rPr sz="1300" b="0" i="0">
                <a:solidFill>
                  <a:srgbClr val="55666E"/>
                </a:solidFill>
              </a:rPr>
              <a:t>• CR = заявки / клики</a:t>
            </a:r>
          </a:p>
          <a:p>
            <a:pPr algn="l"/>
            <a:r>
              <a:rPr sz="1300" b="0" i="0">
                <a:solidFill>
                  <a:srgbClr val="55666E"/>
                </a:solidFill>
              </a:rPr>
              <a:t>• CPA = расход / заявки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CPC 40 ₽ × 1 000 кликов = 40 000 ₽; CPA ≈ 1 333 ₽ за заявку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Типы запросов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8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</a:rPr>
              <a:t>Горячие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07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«заказать сайт-визитку цена» — человек готов купить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5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0232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0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520" y="1892808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</a:rPr>
              <a:t>Тёплые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8520" y="2286000"/>
            <a:ext cx="207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«сайт-визитка или лендинг» — выбирает решение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2639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47231" y="139903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72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5520" y="1892808"/>
            <a:ext cx="207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33A44"/>
                </a:solidFill>
              </a:rPr>
              <a:t>Холодные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5520" y="2286000"/>
            <a:ext cx="207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«как сделать сайт самому» — ищет информацию, для рекламы обычно не подходят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Минус-слова: бесплатно, скачать, своими руками, курсы, вакансия, реферат.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Структура рекламной кампании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18872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188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Кампания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34840" y="1691640"/>
            <a:ext cx="0" cy="182879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83080" y="1874519"/>
            <a:ext cx="5303520" cy="0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83080" y="1874519"/>
            <a:ext cx="0" cy="182881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59" y="20574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59" y="2057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Группа «визитка»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514600"/>
            <a:ext cx="0" cy="155448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59" y="2670048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670048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2 объявления (A/B) · 10–15 ключевых фраз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1874519"/>
            <a:ext cx="0" cy="182881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20574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057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Группа «лендинг»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34840" y="2514600"/>
            <a:ext cx="0" cy="155448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46120" y="2670048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2670048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2 объявления (A/B) · 10–15 ключевых фраз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1874519"/>
            <a:ext cx="0" cy="182881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97880" y="20574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057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Группа «магазин»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6600" y="2514600"/>
            <a:ext cx="0" cy="155448"/>
          </a:xfrm>
          <a:prstGeom prst="line">
            <a:avLst/>
          </a:prstGeom>
          <a:ln w="19050">
            <a:solidFill>
              <a:srgbClr val="556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897880" y="2670048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670048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2 объявления (A/B) · 10–15 ключевых фраз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Одна группа — одна потребность — своё объявление: текст совпадает с запросом, CTR растёт.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Ограничения объявления в Директе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07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00796B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07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символов — заголовок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5640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8520" y="1417320"/>
            <a:ext cx="207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D9563F"/>
                </a:solidFill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520" y="2286000"/>
            <a:ext cx="207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символов — заголовок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82639" y="1234440"/>
            <a:ext cx="2438400" cy="2468880"/>
          </a:xfrm>
          <a:prstGeom prst="roundRect">
            <a:avLst>
              <a:gd name="adj" fmla="val 4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5520" y="1417320"/>
            <a:ext cx="207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C4A15A"/>
                </a:solidFill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520" y="2286000"/>
            <a:ext cx="207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символ — текст объявления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Дополнительно: быстрые ссылки, уточнения, отображаемая ссылка, изображение.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UTM-метки и бюджет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8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Метки показывают в Метрике, какое объявление привело заявку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Бюджет = заявки / конверсия × цена клика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20 / 0,03 × 45 ₽ ≈ 30 000 ₽ в месяц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Запускать кампанию на практике не нужно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https://site.ru/vizitka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?utm_source=yandex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&amp;utm_medium=cpc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&amp;utm_campaign=vizitka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&amp;utm_content=ad1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&amp;utm_term={keyword}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Практическая работа 2: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31673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167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Определить объект продвижения, цели и 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56232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938528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385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56232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Собрать и сгруппировать запросы, составить минус-слова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78024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560320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78024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Проанализировать рекламу конкурентов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99816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31821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182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099816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Составить объявления с UTM-метками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234440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1" y="1316736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13167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234440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Рассчитать бюджет и выбрать стратегию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1856232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1" y="1938528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19385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1856232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Подготовить сайт: Метрика и цели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79" y="2478024"/>
            <a:ext cx="3794760" cy="530352"/>
          </a:xfrm>
          <a:prstGeom prst="roundRect">
            <a:avLst>
              <a:gd name="adj" fmla="val 2068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45151" y="2560320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1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478024"/>
            <a:ext cx="3108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Сформулировать выводы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Работа выполняется на вашем сайте. Изменения кода — коммитами в GitHub, отчёт — со скриншотами.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Что показывает CTR?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Расход 30 000 ₽, получено 25 заявок. Чему равен CPA?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Зачем нужны минус-слова?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Какой запрос относится к «горячим»?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Полный тест с пояснениями к каждому ответу — на сайте практики, в конце страницы темы.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Полезные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11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2"/>
              </a:rPr>
              <a:t>Яндекс Вордстат</a:t>
            </a:r>
            <a:r>
              <a:rPr sz="1200" b="0" i="0">
                <a:solidFill>
                  <a:srgbClr val="55666E"/>
                </a:solidFill>
              </a:rPr>
              <a:t>   wordstat.yandex.ru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3"/>
              </a:rPr>
              <a:t>Яндекс Учебник: старт в Директе</a:t>
            </a:r>
            <a:r>
              <a:rPr sz="1200" b="0" i="0">
                <a:solidFill>
                  <a:srgbClr val="55666E"/>
                </a:solidFill>
              </a:rPr>
              <a:t>   yandex.ru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4"/>
              </a:rPr>
              <a:t>Справка Яндекс.Директ</a:t>
            </a:r>
            <a:r>
              <a:rPr sz="1200" b="0" i="0">
                <a:solidFill>
                  <a:srgbClr val="55666E"/>
                </a:solidFill>
              </a:rPr>
              <a:t>   yandex.ru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5"/>
              </a:rPr>
              <a:t>Справка Яндекс Метрики</a:t>
            </a:r>
            <a:r>
              <a:rPr sz="1200" b="0" i="0">
                <a:solidFill>
                  <a:srgbClr val="55666E"/>
                </a:solidFill>
              </a:rPr>
              <a:t>   yandex.ru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6"/>
              </a:rPr>
              <a:t>eLama: Директ с нуля</a:t>
            </a:r>
            <a:r>
              <a:rPr sz="1200" b="0" i="0">
                <a:solidFill>
                  <a:srgbClr val="55666E"/>
                </a:solidFill>
              </a:rPr>
              <a:t>   elama.ru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Выполнить практическую работу на своём сайте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719072"/>
            <a:ext cx="411480" cy="41148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Пройти тест для самопроверки на сайте практики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Зафиксировать изменения коммитом в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3044952"/>
            <a:ext cx="411480" cy="41148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Добавить раздел в итоговый отчёт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2. Стратегия контекстной рекламы</dc:title>
  <cp:lastModifiedBy>fish</cp:lastModifiedBy>
  <cp:revision>3</cp:revision>
  <dcterms:modified xsi:type="dcterms:W3CDTF">2026-10-28T08:52:09Z</dcterms:modified>
</cp:coreProperties>
</file>